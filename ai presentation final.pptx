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88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6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5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6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image" Target="../media/image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6.png"/><Relationship Id="rId9" Type="http://schemas.openxmlformats.org/officeDocument/2006/relationships/image" Target="../media/image6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11" Type="http://schemas.openxmlformats.org/officeDocument/2006/relationships/image" Target="../media/image68.png"/><Relationship Id="rId5" Type="http://schemas.openxmlformats.org/officeDocument/2006/relationships/image" Target="../media/image5.png"/><Relationship Id="rId10" Type="http://schemas.openxmlformats.org/officeDocument/2006/relationships/image" Target="../media/image67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1.png"/><Relationship Id="rId10" Type="http://schemas.openxmlformats.org/officeDocument/2006/relationships/image" Target="../media/image74.png"/><Relationship Id="rId4" Type="http://schemas.openxmlformats.org/officeDocument/2006/relationships/image" Target="../media/image6.png"/><Relationship Id="rId9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5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6.png"/><Relationship Id="rId9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6695" y="-952805"/>
            <a:ext cx="5715000" cy="5715000"/>
          </a:xfrm>
          <a:prstGeom prst="ellipse">
            <a:avLst/>
          </a:prstGeom>
          <a:solidFill>
            <a:srgbClr val="2B5876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7195" y="4286707"/>
            <a:ext cx="2857500" cy="2857500"/>
          </a:xfrm>
          <a:prstGeom prst="ellipse">
            <a:avLst/>
          </a:prstGeom>
          <a:solidFill>
            <a:srgbClr val="C94955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2B587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229807"/>
            <a:ext cx="12191695" cy="576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952805" y="3905402"/>
            <a:ext cx="1143000" cy="7589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52805" y="2381098"/>
            <a:ext cx="9525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300" b="1" kern="0" spc="-75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Content Creator</a:t>
            </a:r>
            <a:endParaRPr lang="en-US" sz="4300" dirty="0"/>
          </a:p>
        </p:txBody>
      </p:sp>
      <p:sp>
        <p:nvSpPr>
          <p:cNvPr id="13" name="Text 7"/>
          <p:cNvSpPr txBox="1"/>
          <p:nvPr/>
        </p:nvSpPr>
        <p:spPr>
          <a:xfrm>
            <a:off x="952805" y="3103474"/>
            <a:ext cx="9525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4A4A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Text to Video Using AI Tools</a:t>
            </a:r>
            <a:endParaRPr lang="en-US" sz="2800" dirty="0"/>
          </a:p>
        </p:txBody>
      </p:sp>
      <p:sp>
        <p:nvSpPr>
          <p:cNvPr id="14" name="Text 8"/>
          <p:cNvSpPr txBox="1"/>
          <p:nvPr/>
        </p:nvSpPr>
        <p:spPr>
          <a:xfrm>
            <a:off x="952805" y="4381805"/>
            <a:ext cx="3143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952805" y="4667098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Rawad Youssef</a:t>
            </a:r>
            <a:endParaRPr lang="en-US" sz="2400" dirty="0"/>
          </a:p>
        </p:txBody>
      </p:sp>
      <p:sp>
        <p:nvSpPr>
          <p:cNvPr id="16" name="Text 10"/>
          <p:cNvSpPr txBox="1"/>
          <p:nvPr/>
        </p:nvSpPr>
        <p:spPr>
          <a:xfrm>
            <a:off x="4286707" y="4381805"/>
            <a:ext cx="69540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 Information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286707" y="4667098"/>
            <a:ext cx="6954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CSC211 – Introduction to Artificial Intelligence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4286707" y="5057546"/>
            <a:ext cx="6954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Instructor: </a:t>
            </a: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Mr. Jean Merhy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952805" y="6458407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 UNIVERSITY FOR BUSINESS &amp; SCIENCE (MUBS)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F5389E-D42F-0C80-9930-C124BF5FEC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1729" y="152806"/>
            <a:ext cx="1617980" cy="1617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952805" y="4762195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0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/ Problem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1990649" y="2095805"/>
            <a:ext cx="8677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creation is time-consuming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990649" y="2542946"/>
            <a:ext cx="86776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manual workflows require significant hours devoted to conceptualization, scripting, and production.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018995" y="3462833"/>
            <a:ext cx="8649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a diverse set of skills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2018995" y="3910889"/>
            <a:ext cx="86493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Producing high-quality material demands simultaneous expertise in writing, voiceover acting, graphic design, and video editing.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84248" y="4830775"/>
            <a:ext cx="86868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pressure on students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1984248" y="5278831"/>
            <a:ext cx="86868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students struggle to deliver polished, professional presentations and videos under tight academic deadlines.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24305" y="2152498"/>
            <a:ext cx="228600" cy="22860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524305" y="3520440"/>
            <a:ext cx="256946" cy="22860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535278" y="4888382"/>
            <a:ext cx="200254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33195" y="2286000"/>
            <a:ext cx="2857500" cy="34290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7098" y="2286000"/>
            <a:ext cx="2857500" cy="34290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0" y="2286000"/>
            <a:ext cx="2857500" cy="342900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5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333195" y="2286000"/>
            <a:ext cx="2857500" cy="75895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2381098" y="2667305"/>
            <a:ext cx="761695" cy="761695"/>
          </a:xfrm>
          <a:prstGeom prst="ellipse">
            <a:avLst/>
          </a:prstGeom>
          <a:solidFill>
            <a:srgbClr val="C94955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rcRect l="-201" r="-201"/>
          <a:stretch/>
        </p:blipFill>
        <p:spPr>
          <a:xfrm>
            <a:off x="4667098" y="2286000"/>
            <a:ext cx="2857500" cy="75895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5715000" y="2667305"/>
            <a:ext cx="761695" cy="761695"/>
          </a:xfrm>
          <a:prstGeom prst="ellipse">
            <a:avLst/>
          </a:prstGeom>
          <a:solidFill>
            <a:srgbClr val="2B587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8001000" y="2286000"/>
            <a:ext cx="2857500" cy="75895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9048902" y="2667305"/>
            <a:ext cx="761695" cy="761695"/>
          </a:xfrm>
          <a:prstGeom prst="ellipse">
            <a:avLst/>
          </a:prstGeom>
          <a:solidFill>
            <a:srgbClr val="C94955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</a:t>
            </a:r>
            <a:endParaRPr lang="en-US" sz="36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rcRect l="-44" r="-44"/>
          <a:stretch/>
        </p:blipFill>
        <p:spPr>
          <a:xfrm>
            <a:off x="2499970" y="2824582"/>
            <a:ext cx="523951" cy="41879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524305" y="3715207"/>
            <a:ext cx="2477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Creation</a:t>
            </a:r>
            <a:endParaRPr lang="en-US" sz="1600" dirty="0"/>
          </a:p>
        </p:txBody>
      </p:sp>
      <p:sp>
        <p:nvSpPr>
          <p:cNvPr id="22" name="Text 11"/>
          <p:cNvSpPr txBox="1"/>
          <p:nvPr/>
        </p:nvSpPr>
        <p:spPr>
          <a:xfrm>
            <a:off x="1524305" y="4162349"/>
            <a:ext cx="2477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an AI system that automatically creates short videos from a given topic.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9"/>
          <a:srcRect l="-558" r="-558"/>
          <a:stretch/>
        </p:blipFill>
        <p:spPr>
          <a:xfrm>
            <a:off x="5857646" y="2824582"/>
            <a:ext cx="476402" cy="418795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4858207" y="3715207"/>
            <a:ext cx="2477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Simplified Workflow</a:t>
            </a:r>
            <a:endParaRPr lang="en-US" sz="1600" dirty="0"/>
          </a:p>
        </p:txBody>
      </p:sp>
      <p:sp>
        <p:nvSpPr>
          <p:cNvPr id="25" name="Text 13"/>
          <p:cNvSpPr txBox="1"/>
          <p:nvPr/>
        </p:nvSpPr>
        <p:spPr>
          <a:xfrm>
            <a:off x="4858207" y="4162349"/>
            <a:ext cx="2477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Simplify the end-to-end video workflow using accessible and modern AI tools.</a:t>
            </a:r>
            <a:endParaRPr lang="en-US" sz="12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219895" y="2824582"/>
            <a:ext cx="418795" cy="41879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8191195" y="3715207"/>
            <a:ext cx="2477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Quality</a:t>
            </a:r>
            <a:endParaRPr lang="en-US" sz="1600" dirty="0"/>
          </a:p>
        </p:txBody>
      </p:sp>
      <p:sp>
        <p:nvSpPr>
          <p:cNvPr id="28" name="Text 15"/>
          <p:cNvSpPr txBox="1"/>
          <p:nvPr/>
        </p:nvSpPr>
        <p:spPr>
          <a:xfrm>
            <a:off x="8191195" y="4162349"/>
            <a:ext cx="2477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effort significantly while keeping output quality high and consistent.</a:t>
            </a:r>
            <a:endParaRPr lang="en-US" sz="1200" dirty="0"/>
          </a:p>
        </p:txBody>
      </p:sp>
      <p:sp>
        <p:nvSpPr>
          <p:cNvPr id="29" name="Text 16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1429207" y="-1429207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1707" y="4286707"/>
            <a:ext cx="2857500" cy="2857500"/>
          </a:xfrm>
          <a:prstGeom prst="ellipse">
            <a:avLst/>
          </a:prstGeom>
          <a:solidFill>
            <a:srgbClr val="C94955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86500" y="2095805"/>
            <a:ext cx="4762195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286500" y="3143707"/>
            <a:ext cx="4762195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86500" y="4190695"/>
            <a:ext cx="4762195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86500" y="5238598"/>
            <a:ext cx="4762195" cy="952805"/>
          </a:xfrm>
          <a:prstGeom prst="roundRect">
            <a:avLst>
              <a:gd name="adj" fmla="val 230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217" b="-217"/>
          <a:stretch/>
        </p:blipFill>
        <p:spPr>
          <a:xfrm>
            <a:off x="6286500" y="2095805"/>
            <a:ext cx="75895" cy="9528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524244" y="2286000"/>
            <a:ext cx="571500" cy="571500"/>
          </a:xfrm>
          <a:prstGeom prst="ellipse">
            <a:avLst/>
          </a:prstGeom>
          <a:solidFill>
            <a:srgbClr val="2B587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217" b="-217"/>
          <a:stretch/>
        </p:blipFill>
        <p:spPr>
          <a:xfrm>
            <a:off x="6286500" y="3143707"/>
            <a:ext cx="75895" cy="9528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24244" y="3333902"/>
            <a:ext cx="571500" cy="571500"/>
          </a:xfrm>
          <a:prstGeom prst="ellipse">
            <a:avLst/>
          </a:prstGeom>
          <a:solidFill>
            <a:srgbClr val="C9495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rcRect t="-217" b="-217"/>
          <a:stretch/>
        </p:blipFill>
        <p:spPr>
          <a:xfrm>
            <a:off x="6286500" y="4190695"/>
            <a:ext cx="75895" cy="95280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524244" y="4381805"/>
            <a:ext cx="571500" cy="571500"/>
          </a:xfrm>
          <a:prstGeom prst="ellipse">
            <a:avLst/>
          </a:prstGeom>
          <a:solidFill>
            <a:srgbClr val="2B587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 t="-217" b="-217"/>
          <a:stretch/>
        </p:blipFill>
        <p:spPr>
          <a:xfrm>
            <a:off x="6286500" y="5238598"/>
            <a:ext cx="75895" cy="952805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524244" y="5429707"/>
            <a:ext cx="571500" cy="571500"/>
          </a:xfrm>
          <a:prstGeom prst="ellipse">
            <a:avLst/>
          </a:prstGeom>
          <a:solidFill>
            <a:srgbClr val="C9495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Approach</a:t>
            </a:r>
            <a:endParaRPr lang="en-US" sz="3600" dirty="0"/>
          </a:p>
        </p:txBody>
      </p:sp>
      <p:sp>
        <p:nvSpPr>
          <p:cNvPr id="24" name="Text 16"/>
          <p:cNvSpPr txBox="1"/>
          <p:nvPr/>
        </p:nvSpPr>
        <p:spPr>
          <a:xfrm>
            <a:off x="1143000" y="2667305"/>
            <a:ext cx="49103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Multimedia Pipeline</a:t>
            </a:r>
            <a:endParaRPr lang="en-US" sz="2100" dirty="0"/>
          </a:p>
        </p:txBody>
      </p:sp>
      <p:sp>
        <p:nvSpPr>
          <p:cNvPr id="25" name="Text 17"/>
          <p:cNvSpPr txBox="1"/>
          <p:nvPr/>
        </p:nvSpPr>
        <p:spPr>
          <a:xfrm>
            <a:off x="1143000" y="324246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approach integrates state-of-the-art artificial intelligence models to fully automate the video production process.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1143000" y="4385462"/>
            <a:ext cx="45720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chaining specialized AI tools, we transform a simple text topic into a complete, polished multimedia presentation, eliminating manual bottlenecks and saving significant creation time.</a:t>
            </a:r>
            <a:endParaRPr lang="en-US" sz="15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96151" y="2447849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286854" y="2238451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7286854" y="2505456"/>
            <a:ext cx="35725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project outline, structured script, and image prompts from the initial topic.</a:t>
            </a:r>
            <a:endParaRPr lang="en-US" sz="11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6724498" y="3495751"/>
            <a:ext cx="171907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86854" y="3286354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Text-to-Speech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7286854" y="3552444"/>
            <a:ext cx="35725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Converts the generated script into high-quality, natural-sounding voiceover narration.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96151" y="4543654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286854" y="4334256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Generation</a:t>
            </a:r>
            <a:endParaRPr lang="en-US" sz="1500" dirty="0"/>
          </a:p>
        </p:txBody>
      </p:sp>
      <p:sp>
        <p:nvSpPr>
          <p:cNvPr id="35" name="Text 24"/>
          <p:cNvSpPr txBox="1"/>
          <p:nvPr/>
        </p:nvSpPr>
        <p:spPr>
          <a:xfrm>
            <a:off x="7286854" y="4600346"/>
            <a:ext cx="35725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Produces custom visual assets, illustrations, and b-roll footage matching the script.</a:t>
            </a:r>
            <a:endParaRPr lang="en-US" sz="11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6681521" y="5591556"/>
            <a:ext cx="256946" cy="2286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286854" y="5381244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Creation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7286854" y="5648249"/>
            <a:ext cx="35725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Assembles the audio, generated visuals, and text into a final, synced timeline.</a:t>
            </a:r>
            <a:endParaRPr lang="en-US" sz="1100" dirty="0"/>
          </a:p>
        </p:txBody>
      </p:sp>
      <p:sp>
        <p:nvSpPr>
          <p:cNvPr id="39" name="Text 27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1429207" y="-1429207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01707" y="4286707"/>
            <a:ext cx="2857500" cy="2857500"/>
          </a:xfrm>
          <a:prstGeom prst="ellipse">
            <a:avLst/>
          </a:prstGeom>
          <a:solidFill>
            <a:srgbClr val="C94955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86500" y="1809598"/>
            <a:ext cx="4762195" cy="809244"/>
          </a:xfrm>
          <a:prstGeom prst="roundRect">
            <a:avLst>
              <a:gd name="adj" fmla="val 319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286500" y="2714854"/>
            <a:ext cx="4762195" cy="809244"/>
          </a:xfrm>
          <a:prstGeom prst="roundRect">
            <a:avLst>
              <a:gd name="adj" fmla="val 319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86500" y="3619195"/>
            <a:ext cx="4762195" cy="809244"/>
          </a:xfrm>
          <a:prstGeom prst="roundRect">
            <a:avLst>
              <a:gd name="adj" fmla="val 319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86500" y="4524451"/>
            <a:ext cx="4762195" cy="809244"/>
          </a:xfrm>
          <a:prstGeom prst="roundRect">
            <a:avLst>
              <a:gd name="adj" fmla="val 319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86500" y="5429707"/>
            <a:ext cx="4762195" cy="809244"/>
          </a:xfrm>
          <a:prstGeom prst="roundRect">
            <a:avLst>
              <a:gd name="adj" fmla="val 319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177" b="-177"/>
          <a:stretch/>
        </p:blipFill>
        <p:spPr>
          <a:xfrm>
            <a:off x="6286500" y="1809598"/>
            <a:ext cx="75895" cy="80924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524244" y="1971446"/>
            <a:ext cx="476402" cy="476402"/>
          </a:xfrm>
          <a:prstGeom prst="ellipse">
            <a:avLst/>
          </a:prstGeom>
          <a:solidFill>
            <a:srgbClr val="2B587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177" b="-177"/>
          <a:stretch/>
        </p:blipFill>
        <p:spPr>
          <a:xfrm>
            <a:off x="6286500" y="2714854"/>
            <a:ext cx="75895" cy="8092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24244" y="2876702"/>
            <a:ext cx="476402" cy="476402"/>
          </a:xfrm>
          <a:prstGeom prst="ellipse">
            <a:avLst/>
          </a:prstGeom>
          <a:solidFill>
            <a:srgbClr val="C9495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77" b="-177"/>
          <a:stretch/>
        </p:blipFill>
        <p:spPr>
          <a:xfrm>
            <a:off x="6286500" y="3619195"/>
            <a:ext cx="75895" cy="80924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524244" y="3781044"/>
            <a:ext cx="476402" cy="476402"/>
          </a:xfrm>
          <a:prstGeom prst="ellipse">
            <a:avLst/>
          </a:prstGeom>
          <a:solidFill>
            <a:srgbClr val="2B587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 t="-177" b="-177"/>
          <a:stretch/>
        </p:blipFill>
        <p:spPr>
          <a:xfrm>
            <a:off x="6286500" y="4524451"/>
            <a:ext cx="75895" cy="8092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524244" y="4686300"/>
            <a:ext cx="476402" cy="476402"/>
          </a:xfrm>
          <a:prstGeom prst="ellipse">
            <a:avLst/>
          </a:prstGeom>
          <a:solidFill>
            <a:srgbClr val="C9495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rcRect t="-177" b="-177"/>
          <a:stretch/>
        </p:blipFill>
        <p:spPr>
          <a:xfrm>
            <a:off x="6286500" y="5429707"/>
            <a:ext cx="75895" cy="809244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524244" y="5591556"/>
            <a:ext cx="476402" cy="476402"/>
          </a:xfrm>
          <a:prstGeom prst="ellipse">
            <a:avLst/>
          </a:prstGeom>
          <a:solidFill>
            <a:srgbClr val="2B587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Used</a:t>
            </a:r>
            <a:endParaRPr lang="en-US" sz="3600" dirty="0"/>
          </a:p>
        </p:txBody>
      </p:sp>
      <p:sp>
        <p:nvSpPr>
          <p:cNvPr id="27" name="Text 18"/>
          <p:cNvSpPr txBox="1"/>
          <p:nvPr/>
        </p:nvSpPr>
        <p:spPr>
          <a:xfrm>
            <a:off x="1143000" y="2190902"/>
            <a:ext cx="45720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Integrated AI Stack</a:t>
            </a:r>
            <a:endParaRPr lang="en-US" sz="2100" dirty="0"/>
          </a:p>
        </p:txBody>
      </p:sp>
      <p:sp>
        <p:nvSpPr>
          <p:cNvPr id="28" name="Text 19"/>
          <p:cNvSpPr txBox="1"/>
          <p:nvPr/>
        </p:nvSpPr>
        <p:spPr>
          <a:xfrm>
            <a:off x="1143000" y="27660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achieve a seamless content creation process, we leverage a specialized suite of accessible AI-powered applications.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1143000" y="3909060"/>
            <a:ext cx="45720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tool is carefully selected to handle a specific part of the workflow—from initial script writing to final video assembly—ensuring a professional output with minimal manual effort.</a:t>
            </a:r>
            <a:endParaRPr lang="en-US" sz="15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44030" y="2100377"/>
            <a:ext cx="237744" cy="1901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191756" y="1923898"/>
            <a:ext cx="3667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ChatGPT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7191756" y="2171700"/>
            <a:ext cx="3667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the engaging video script and precise image prompts.</a:t>
            </a:r>
            <a:endParaRPr lang="en-US" sz="10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6653174" y="3004718"/>
            <a:ext cx="219456" cy="19019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191756" y="2829154"/>
            <a:ext cx="3667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</a:t>
            </a:r>
            <a:endParaRPr lang="en-US" sz="1300" dirty="0"/>
          </a:p>
        </p:txBody>
      </p:sp>
      <p:sp>
        <p:nvSpPr>
          <p:cNvPr id="35" name="Text 24"/>
          <p:cNvSpPr txBox="1"/>
          <p:nvPr/>
        </p:nvSpPr>
        <p:spPr>
          <a:xfrm>
            <a:off x="7191756" y="3076956"/>
            <a:ext cx="3667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Organizes and connects the sequence of AI workflow steps.</a:t>
            </a:r>
            <a:endParaRPr lang="en-US" sz="10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67805" y="3909974"/>
            <a:ext cx="190195" cy="19019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191756" y="3733495"/>
            <a:ext cx="3667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Nano Banana 2</a:t>
            </a:r>
            <a:endParaRPr 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7191756" y="3981298"/>
            <a:ext cx="3667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highly detailed, custom images from the generated prompts.</a:t>
            </a:r>
            <a:endParaRPr lang="en-US" sz="10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91579" y="4815230"/>
            <a:ext cx="142646" cy="19019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7191756" y="4638751"/>
            <a:ext cx="3667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TTSMaker</a:t>
            </a:r>
            <a:endParaRPr lang="en-US" sz="1300" dirty="0"/>
          </a:p>
        </p:txBody>
      </p:sp>
      <p:sp>
        <p:nvSpPr>
          <p:cNvPr id="41" name="Text 28"/>
          <p:cNvSpPr txBox="1"/>
          <p:nvPr/>
        </p:nvSpPr>
        <p:spPr>
          <a:xfrm>
            <a:off x="7191756" y="4886554"/>
            <a:ext cx="3667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Converts the text script into a natural, human-sounding voiceover.</a:t>
            </a:r>
            <a:endParaRPr lang="en-US" sz="10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6653174" y="5719572"/>
            <a:ext cx="219456" cy="19019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191756" y="5544007"/>
            <a:ext cx="36676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Canva</a:t>
            </a:r>
            <a:endParaRPr lang="en-US" sz="1300" dirty="0"/>
          </a:p>
        </p:txBody>
      </p:sp>
      <p:sp>
        <p:nvSpPr>
          <p:cNvPr id="44" name="Text 30"/>
          <p:cNvSpPr txBox="1"/>
          <p:nvPr/>
        </p:nvSpPr>
        <p:spPr>
          <a:xfrm>
            <a:off x="7191756" y="5790895"/>
            <a:ext cx="3667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Assembles the voice, generated visuals, and text into the final video.</a:t>
            </a:r>
            <a:endParaRPr lang="en-US" sz="1000" dirty="0"/>
          </a:p>
        </p:txBody>
      </p:sp>
      <p:sp>
        <p:nvSpPr>
          <p:cNvPr id="45" name="Text 31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195" y="4762195"/>
            <a:ext cx="2857500" cy="2857500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952805" y="-952805"/>
            <a:ext cx="3333902" cy="3333902"/>
          </a:xfrm>
          <a:prstGeom prst="ellipse">
            <a:avLst/>
          </a:prstGeom>
          <a:solidFill>
            <a:srgbClr val="C94955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01" r="-201"/>
          <a:stretch/>
        </p:blipFill>
        <p:spPr>
          <a:xfrm>
            <a:off x="1524305" y="3200400"/>
            <a:ext cx="9144000" cy="7589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524305" y="3200400"/>
            <a:ext cx="9144000" cy="75895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805" y="2667305"/>
            <a:ext cx="1143000" cy="114300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38805" y="2667305"/>
            <a:ext cx="1143000" cy="114300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24805" y="2667305"/>
            <a:ext cx="1143000" cy="1143000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10805" y="2667305"/>
            <a:ext cx="1143000" cy="1143000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96805" y="2667305"/>
            <a:ext cx="1143000" cy="114300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476195" y="3047695"/>
            <a:ext cx="381305" cy="38130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62195" y="3047695"/>
            <a:ext cx="381305" cy="381305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48195" y="3047695"/>
            <a:ext cx="381305" cy="381305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34195" y="3047695"/>
            <a:ext cx="381305" cy="381305"/>
          </a:xfrm>
          <a:prstGeom prst="rect">
            <a:avLst/>
          </a:prstGeom>
        </p:spPr>
      </p:pic>
      <p:sp>
        <p:nvSpPr>
          <p:cNvPr id="22" name="Text 7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Workflow</a:t>
            </a:r>
            <a:endParaRPr lang="en-US" sz="36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9"/>
          <a:srcRect l="-73" r="-73"/>
          <a:stretch/>
        </p:blipFill>
        <p:spPr>
          <a:xfrm>
            <a:off x="1367028" y="3014777"/>
            <a:ext cx="314554" cy="418795"/>
          </a:xfrm>
          <a:prstGeom prst="rect">
            <a:avLst/>
          </a:prstGeom>
        </p:spPr>
      </p:pic>
      <p:sp>
        <p:nvSpPr>
          <p:cNvPr id="24" name="Text 8"/>
          <p:cNvSpPr txBox="1"/>
          <p:nvPr/>
        </p:nvSpPr>
        <p:spPr>
          <a:xfrm>
            <a:off x="476402" y="4095598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Topic</a:t>
            </a:r>
            <a:endParaRPr lang="en-US" sz="1800" dirty="0"/>
          </a:p>
        </p:txBody>
      </p:sp>
      <p:sp>
        <p:nvSpPr>
          <p:cNvPr id="25" name="Text 9"/>
          <p:cNvSpPr txBox="1"/>
          <p:nvPr/>
        </p:nvSpPr>
        <p:spPr>
          <a:xfrm>
            <a:off x="476402" y="4429354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core subject</a:t>
            </a:r>
            <a:endParaRPr lang="en-US" sz="120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2614270" y="3145536"/>
            <a:ext cx="105156" cy="171907"/>
          </a:xfrm>
          <a:prstGeom prst="rect">
            <a:avLst/>
          </a:prstGeom>
        </p:spPr>
      </p:pic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1"/>
          <a:srcRect l="-40" r="-40"/>
          <a:stretch/>
        </p:blipFill>
        <p:spPr>
          <a:xfrm>
            <a:off x="3666744" y="3038551"/>
            <a:ext cx="286207" cy="381305"/>
          </a:xfrm>
          <a:prstGeom prst="rect">
            <a:avLst/>
          </a:prstGeom>
        </p:spPr>
      </p:pic>
      <p:sp>
        <p:nvSpPr>
          <p:cNvPr id="28" name="Text 10"/>
          <p:cNvSpPr txBox="1"/>
          <p:nvPr/>
        </p:nvSpPr>
        <p:spPr>
          <a:xfrm>
            <a:off x="2762402" y="4095598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Script</a:t>
            </a:r>
            <a:endParaRPr lang="en-US" sz="1800" dirty="0"/>
          </a:p>
        </p:txBody>
      </p:sp>
      <p:sp>
        <p:nvSpPr>
          <p:cNvPr id="29" name="Text 11"/>
          <p:cNvSpPr txBox="1"/>
          <p:nvPr/>
        </p:nvSpPr>
        <p:spPr>
          <a:xfrm>
            <a:off x="2716682" y="4429354"/>
            <a:ext cx="218724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outline &amp; text</a:t>
            </a:r>
            <a:endParaRPr lang="en-US" sz="120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4900270" y="3145536"/>
            <a:ext cx="105156" cy="171907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2"/>
          <a:srcRect l="-685" r="-685"/>
          <a:stretch/>
        </p:blipFill>
        <p:spPr>
          <a:xfrm>
            <a:off x="5943600" y="3031236"/>
            <a:ext cx="304495" cy="400507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5048402" y="4095598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Voice</a:t>
            </a:r>
            <a:endParaRPr lang="en-US" sz="1800" dirty="0"/>
          </a:p>
        </p:txBody>
      </p:sp>
      <p:sp>
        <p:nvSpPr>
          <p:cNvPr id="33" name="Text 13"/>
          <p:cNvSpPr txBox="1"/>
          <p:nvPr/>
        </p:nvSpPr>
        <p:spPr>
          <a:xfrm>
            <a:off x="5048402" y="4429354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text to speech</a:t>
            </a:r>
            <a:endParaRPr lang="en-US" sz="12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7186270" y="3145536"/>
            <a:ext cx="105156" cy="171907"/>
          </a:xfrm>
          <a:prstGeom prst="rect">
            <a:avLst/>
          </a:prstGeom>
        </p:spPr>
      </p:pic>
      <p:pic>
        <p:nvPicPr>
          <p:cNvPr id="35" name="Image 19" descr="preencoded.png"/>
          <p:cNvPicPr>
            <a:picLocks noChangeAspect="1"/>
          </p:cNvPicPr>
          <p:nvPr/>
        </p:nvPicPr>
        <p:blipFill>
          <a:blip r:embed="rId13"/>
          <a:srcRect t="-13" b="-13"/>
          <a:stretch/>
        </p:blipFill>
        <p:spPr>
          <a:xfrm>
            <a:off x="8167421" y="3038551"/>
            <a:ext cx="428854" cy="381305"/>
          </a:xfrm>
          <a:prstGeom prst="rect">
            <a:avLst/>
          </a:prstGeom>
        </p:spPr>
      </p:pic>
      <p:sp>
        <p:nvSpPr>
          <p:cNvPr id="36" name="Text 14"/>
          <p:cNvSpPr txBox="1"/>
          <p:nvPr/>
        </p:nvSpPr>
        <p:spPr>
          <a:xfrm>
            <a:off x="7334402" y="4095598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Images</a:t>
            </a:r>
            <a:endParaRPr lang="en-US" sz="1800" dirty="0"/>
          </a:p>
        </p:txBody>
      </p:sp>
      <p:sp>
        <p:nvSpPr>
          <p:cNvPr id="37" name="Text 15"/>
          <p:cNvSpPr txBox="1"/>
          <p:nvPr/>
        </p:nvSpPr>
        <p:spPr>
          <a:xfrm>
            <a:off x="7334402" y="4429354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visual assets</a:t>
            </a:r>
            <a:endParaRPr lang="en-US" sz="120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9472270" y="3145536"/>
            <a:ext cx="105156" cy="171907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468051" y="3031236"/>
            <a:ext cx="400507" cy="400507"/>
          </a:xfrm>
          <a:prstGeom prst="rect">
            <a:avLst/>
          </a:prstGeom>
        </p:spPr>
      </p:pic>
      <p:sp>
        <p:nvSpPr>
          <p:cNvPr id="40" name="Text 16"/>
          <p:cNvSpPr txBox="1"/>
          <p:nvPr/>
        </p:nvSpPr>
        <p:spPr>
          <a:xfrm>
            <a:off x="9620402" y="4095598"/>
            <a:ext cx="2095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Video</a:t>
            </a:r>
            <a:endParaRPr lang="en-US" sz="1800" dirty="0"/>
          </a:p>
        </p:txBody>
      </p:sp>
      <p:sp>
        <p:nvSpPr>
          <p:cNvPr id="41" name="Text 17"/>
          <p:cNvSpPr txBox="1"/>
          <p:nvPr/>
        </p:nvSpPr>
        <p:spPr>
          <a:xfrm>
            <a:off x="9421063" y="4429354"/>
            <a:ext cx="24944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Assemble final presentation</a:t>
            </a:r>
            <a:endParaRPr lang="en-US" sz="1200" dirty="0"/>
          </a:p>
        </p:txBody>
      </p:sp>
      <p:sp>
        <p:nvSpPr>
          <p:cNvPr id="42" name="Text 18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01707" y="952805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952805" y="3810305"/>
            <a:ext cx="2857500" cy="2857500"/>
          </a:xfrm>
          <a:prstGeom prst="ellipse">
            <a:avLst/>
          </a:prstGeom>
          <a:solidFill>
            <a:srgbClr val="C94955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85900" y="2057400"/>
            <a:ext cx="9219895" cy="4267505"/>
          </a:xfrm>
          <a:prstGeom prst="roundRect">
            <a:avLst>
              <a:gd name="adj" fmla="val 1148"/>
            </a:avLst>
          </a:prstGeom>
          <a:solidFill>
            <a:srgbClr val="2B587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6" r="-36"/>
          <a:stretch/>
        </p:blipFill>
        <p:spPr>
          <a:xfrm>
            <a:off x="1524305" y="2095805"/>
            <a:ext cx="9144000" cy="41879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24305" y="2514600"/>
            <a:ext cx="9144000" cy="37719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714500" y="2238451"/>
            <a:ext cx="133502" cy="133502"/>
          </a:xfrm>
          <a:prstGeom prst="ellipse">
            <a:avLst/>
          </a:prstGeom>
          <a:solidFill>
            <a:srgbClr val="C949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943100" y="2238451"/>
            <a:ext cx="133502" cy="13350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171700" y="2238451"/>
            <a:ext cx="133502" cy="13350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905695" y="5524805"/>
            <a:ext cx="571500" cy="5715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Script Example</a:t>
            </a:r>
            <a:endParaRPr lang="en-US" sz="3600" dirty="0"/>
          </a:p>
        </p:txBody>
      </p:sp>
      <p:sp>
        <p:nvSpPr>
          <p:cNvPr id="19" name="Text 12"/>
          <p:cNvSpPr txBox="1"/>
          <p:nvPr/>
        </p:nvSpPr>
        <p:spPr>
          <a:xfrm>
            <a:off x="2476195" y="2190902"/>
            <a:ext cx="7620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generated_script.txt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809598" y="2762402"/>
            <a:ext cx="8572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[INTRO SCENE]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1809598" y="3110789"/>
            <a:ext cx="8572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"Welcome! In this project, an AI assistant turns a topic into a short, engaging video. Step one: we expand the topic 'Benefits of Daily Biking' into a clear 45‑second script with intro, three key points, and a call to action."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809598" y="4060850"/>
            <a:ext cx="8572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BODY]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809598" y="4410151"/>
            <a:ext cx="8572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"Next, we generate a natural voiceover and visuals that match each line. Finally, we assemble everything into a clean, modern video suitable for class presentations."</a:t>
            </a:r>
            <a:endParaRPr lang="en-US" sz="14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77602" y="5695798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1429207" y="3810305"/>
            <a:ext cx="3333902" cy="3333902"/>
          </a:xfrm>
          <a:prstGeom prst="ellipse">
            <a:avLst/>
          </a:prstGeom>
          <a:solidFill>
            <a:srgbClr val="C94955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6" b="-6"/>
          <a:stretch/>
        </p:blipFill>
        <p:spPr>
          <a:xfrm>
            <a:off x="6858000" y="2095805"/>
            <a:ext cx="4190695" cy="39054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97" r="-197"/>
          <a:stretch/>
        </p:blipFill>
        <p:spPr>
          <a:xfrm>
            <a:off x="6858000" y="2095805"/>
            <a:ext cx="4190695" cy="7589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572500" y="2476195"/>
            <a:ext cx="761695" cy="761695"/>
          </a:xfrm>
          <a:prstGeom prst="ellipse">
            <a:avLst/>
          </a:prstGeom>
          <a:solidFill>
            <a:srgbClr val="C94955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 Generation (TTSMaker)</a:t>
            </a:r>
            <a:endParaRPr lang="en-US" sz="3600" dirty="0"/>
          </a:p>
        </p:txBody>
      </p:sp>
      <p:sp>
        <p:nvSpPr>
          <p:cNvPr id="15" name="Text 9"/>
          <p:cNvSpPr txBox="1"/>
          <p:nvPr/>
        </p:nvSpPr>
        <p:spPr>
          <a:xfrm>
            <a:off x="1810512" y="2381098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Script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810512" y="2734056"/>
            <a:ext cx="44769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Paste the finalized AI-generated script directly into the TTSMaker interface.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772107" y="3676802"/>
            <a:ext cx="4515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 Voice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772107" y="4028846"/>
            <a:ext cx="45153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language (English), select an engaging voice profile, and adjust speed/pitch for a natural tone.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772107" y="4972507"/>
            <a:ext cx="4515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 &amp; Review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772107" y="5324551"/>
            <a:ext cx="45153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the generated audio as an MP3 file, and review it for clarity, pacing, and correct pronunciation.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53312" y="2421331"/>
            <a:ext cx="247802" cy="247802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33195" y="3717036"/>
            <a:ext cx="247802" cy="247802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33195" y="5012741"/>
            <a:ext cx="247802" cy="247802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90" r="-90"/>
          <a:stretch/>
        </p:blipFill>
        <p:spPr>
          <a:xfrm>
            <a:off x="8762695" y="2723998"/>
            <a:ext cx="381305" cy="30449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239305" y="34290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Generated Voice Sample</a:t>
            </a:r>
            <a:endParaRPr lang="en-US" sz="1500" dirty="0"/>
          </a:p>
        </p:txBody>
      </p:sp>
      <p:sp>
        <p:nvSpPr>
          <p:cNvPr id="26" name="Shape 16"/>
          <p:cNvSpPr/>
          <p:nvPr/>
        </p:nvSpPr>
        <p:spPr>
          <a:xfrm>
            <a:off x="7239305" y="4410151"/>
            <a:ext cx="57607" cy="114300"/>
          </a:xfrm>
          <a:prstGeom prst="roundRect">
            <a:avLst>
              <a:gd name="adj" fmla="val 1587307"/>
            </a:avLst>
          </a:prstGeom>
          <a:solidFill>
            <a:srgbClr val="E2E8F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7463333" y="4295851"/>
            <a:ext cx="57607" cy="228600"/>
          </a:xfrm>
          <a:prstGeom prst="roundRect">
            <a:avLst>
              <a:gd name="adj" fmla="val 1587307"/>
            </a:avLst>
          </a:prstGeom>
          <a:solidFill>
            <a:srgbClr val="E2E8F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 l="-373" r="-373"/>
          <a:stretch/>
        </p:blipFill>
        <p:spPr>
          <a:xfrm>
            <a:off x="7688275" y="4095598"/>
            <a:ext cx="57607" cy="428854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 l="-400" r="-400"/>
          <a:stretch/>
        </p:blipFill>
        <p:spPr>
          <a:xfrm>
            <a:off x="7913218" y="3952951"/>
            <a:ext cx="57607" cy="571500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>
            <a:alphaModFix amt="80000"/>
          </a:blip>
          <a:srcRect l="-400" r="-400"/>
          <a:stretch/>
        </p:blipFill>
        <p:spPr>
          <a:xfrm>
            <a:off x="8138160" y="4181551"/>
            <a:ext cx="57607" cy="342900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8363102" y="4352544"/>
            <a:ext cx="57607" cy="171907"/>
          </a:xfrm>
          <a:prstGeom prst="roundRect">
            <a:avLst>
              <a:gd name="adj" fmla="val 1587307"/>
            </a:avLst>
          </a:prstGeom>
          <a:solidFill>
            <a:srgbClr val="E2E8F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rcRect l="-424" r="-424"/>
          <a:stretch/>
        </p:blipFill>
        <p:spPr>
          <a:xfrm>
            <a:off x="8588045" y="4038905"/>
            <a:ext cx="57607" cy="485546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5">
            <a:alphaModFix amt="80000"/>
          </a:blip>
          <a:srcRect l="-379" r="-379"/>
          <a:stretch/>
        </p:blipFill>
        <p:spPr>
          <a:xfrm>
            <a:off x="8812987" y="3981298"/>
            <a:ext cx="57607" cy="543154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9037015" y="4238244"/>
            <a:ext cx="57607" cy="286207"/>
          </a:xfrm>
          <a:prstGeom prst="roundRect">
            <a:avLst>
              <a:gd name="adj" fmla="val 1587307"/>
            </a:avLst>
          </a:prstGeom>
          <a:solidFill>
            <a:srgbClr val="2B587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0"/>
          <p:cNvSpPr/>
          <p:nvPr/>
        </p:nvSpPr>
        <p:spPr>
          <a:xfrm>
            <a:off x="9261958" y="4295851"/>
            <a:ext cx="57607" cy="228600"/>
          </a:xfrm>
          <a:prstGeom prst="roundRect">
            <a:avLst>
              <a:gd name="adj" fmla="val 1587307"/>
            </a:avLst>
          </a:prstGeom>
          <a:solidFill>
            <a:srgbClr val="E2E8F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6">
            <a:alphaModFix amt="80000"/>
          </a:blip>
          <a:srcRect l="-342" r="-342"/>
          <a:stretch/>
        </p:blipFill>
        <p:spPr>
          <a:xfrm>
            <a:off x="9486900" y="4123944"/>
            <a:ext cx="57607" cy="400507"/>
          </a:xfrm>
          <a:prstGeom prst="rect">
            <a:avLst/>
          </a:prstGeom>
        </p:spPr>
      </p:pic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7">
            <a:alphaModFix amt="80000"/>
          </a:blip>
          <a:srcRect l="-355" r="-355"/>
          <a:stretch/>
        </p:blipFill>
        <p:spPr>
          <a:xfrm>
            <a:off x="9711842" y="4009644"/>
            <a:ext cx="57607" cy="514807"/>
          </a:xfrm>
          <a:prstGeom prst="rect">
            <a:avLst/>
          </a:prstGeom>
        </p:spPr>
      </p:pic>
      <p:sp>
        <p:nvSpPr>
          <p:cNvPr id="38" name="Shape 21"/>
          <p:cNvSpPr/>
          <p:nvPr/>
        </p:nvSpPr>
        <p:spPr>
          <a:xfrm>
            <a:off x="9936785" y="4267505"/>
            <a:ext cx="57607" cy="256946"/>
          </a:xfrm>
          <a:prstGeom prst="roundRect">
            <a:avLst>
              <a:gd name="adj" fmla="val 1587307"/>
            </a:avLst>
          </a:prstGeom>
          <a:solidFill>
            <a:srgbClr val="2B5876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2"/>
          <p:cNvSpPr/>
          <p:nvPr/>
        </p:nvSpPr>
        <p:spPr>
          <a:xfrm>
            <a:off x="10160813" y="4381805"/>
            <a:ext cx="57607" cy="142646"/>
          </a:xfrm>
          <a:prstGeom prst="roundRect">
            <a:avLst>
              <a:gd name="adj" fmla="val 1587307"/>
            </a:avLst>
          </a:prstGeom>
          <a:solidFill>
            <a:srgbClr val="E2E8F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8">
            <a:alphaModFix amt="80000"/>
          </a:blip>
          <a:srcRect l="-400" r="-400"/>
          <a:stretch/>
        </p:blipFill>
        <p:spPr>
          <a:xfrm>
            <a:off x="10385755" y="4067251"/>
            <a:ext cx="57607" cy="457200"/>
          </a:xfrm>
          <a:prstGeom prst="rect">
            <a:avLst/>
          </a:prstGeom>
        </p:spPr>
      </p:pic>
      <p:sp>
        <p:nvSpPr>
          <p:cNvPr id="41" name="Shape 23"/>
          <p:cNvSpPr/>
          <p:nvPr/>
        </p:nvSpPr>
        <p:spPr>
          <a:xfrm>
            <a:off x="10610698" y="4324198"/>
            <a:ext cx="57607" cy="200254"/>
          </a:xfrm>
          <a:prstGeom prst="roundRect">
            <a:avLst>
              <a:gd name="adj" fmla="val 1587307"/>
            </a:avLst>
          </a:prstGeom>
          <a:solidFill>
            <a:srgbClr val="E2E8F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4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01707" y="-952805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1429207" y="3810305"/>
            <a:ext cx="3333902" cy="3333902"/>
          </a:xfrm>
          <a:prstGeom prst="ellipse">
            <a:avLst/>
          </a:prstGeom>
          <a:solidFill>
            <a:srgbClr val="C94955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33195" y="2000707"/>
            <a:ext cx="45720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1333195" y="3333902"/>
            <a:ext cx="4591202" cy="287670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86500" y="2000707"/>
            <a:ext cx="45720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4000"/>
              </a:srgbClr>
            </a:outerShdw>
          </a:effectLst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6286500" y="3333902"/>
            <a:ext cx="4591202" cy="287670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201" b="-201"/>
          <a:stretch/>
        </p:blipFill>
        <p:spPr>
          <a:xfrm>
            <a:off x="1333195" y="2000707"/>
            <a:ext cx="75895" cy="114300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t="-201" b="-201"/>
          <a:stretch/>
        </p:blipFill>
        <p:spPr>
          <a:xfrm>
            <a:off x="6286500" y="2000707"/>
            <a:ext cx="75895" cy="114300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429207" y="3429000"/>
            <a:ext cx="4381805" cy="266730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381598" y="3429000"/>
            <a:ext cx="4381805" cy="266730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Generation</a:t>
            </a:r>
            <a:endParaRPr lang="en-US" sz="36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1585570" y="2428646"/>
            <a:ext cx="256946" cy="2286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2000707" y="2143354"/>
            <a:ext cx="3715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Prompt 1:</a:t>
            </a:r>
            <a:endParaRPr lang="en-US" sz="1300" dirty="0"/>
          </a:p>
        </p:txBody>
      </p:sp>
      <p:sp>
        <p:nvSpPr>
          <p:cNvPr id="22" name="Text 11"/>
          <p:cNvSpPr txBox="1"/>
          <p:nvPr/>
        </p:nvSpPr>
        <p:spPr>
          <a:xfrm>
            <a:off x="2000707" y="2409444"/>
            <a:ext cx="37152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"Minimal, modern flat illustrations of AI chat interactions, blue/red accents, clean background"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53505" y="2428646"/>
            <a:ext cx="228600" cy="22860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953098" y="2143354"/>
            <a:ext cx="3715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4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Prompt 2:</a:t>
            </a:r>
            <a:endParaRPr lang="en-US" sz="1300" dirty="0"/>
          </a:p>
        </p:txBody>
      </p:sp>
      <p:sp>
        <p:nvSpPr>
          <p:cNvPr id="25" name="Text 13"/>
          <p:cNvSpPr txBox="1"/>
          <p:nvPr/>
        </p:nvSpPr>
        <p:spPr>
          <a:xfrm>
            <a:off x="6953098" y="2409444"/>
            <a:ext cx="37152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"Urban b-roll shots and lifestyle cycling at sunrise, cinematic, soft light"</a:t>
            </a:r>
            <a:endParaRPr lang="en-US" sz="1100" dirty="0"/>
          </a:p>
        </p:txBody>
      </p:sp>
      <p:sp>
        <p:nvSpPr>
          <p:cNvPr id="26" name="Text 14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01707" y="-476402"/>
            <a:ext cx="3333902" cy="3333902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952805" y="4286707"/>
            <a:ext cx="2857500" cy="2857500"/>
          </a:xfrm>
          <a:prstGeom prst="ellipse">
            <a:avLst/>
          </a:prstGeom>
          <a:solidFill>
            <a:srgbClr val="C94955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6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6695" y="2095805"/>
            <a:ext cx="4762195" cy="419069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/>
          <a:srcRect l="-198" r="-198"/>
          <a:stretch/>
        </p:blipFill>
        <p:spPr>
          <a:xfrm>
            <a:off x="6476695" y="2095805"/>
            <a:ext cx="4762195" cy="758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Creation (Canva)</a:t>
            </a:r>
            <a:endParaRPr lang="en-US" sz="3600" dirty="0"/>
          </a:p>
        </p:txBody>
      </p:sp>
      <p:sp>
        <p:nvSpPr>
          <p:cNvPr id="14" name="Text 8"/>
          <p:cNvSpPr txBox="1"/>
          <p:nvPr/>
        </p:nvSpPr>
        <p:spPr>
          <a:xfrm>
            <a:off x="1714500" y="2381098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 Media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1714500" y="2734056"/>
            <a:ext cx="4191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 the finalized MP3 voiceover and all generated AI images into the timeline.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714500" y="3724351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Sync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714500" y="4076395"/>
            <a:ext cx="4191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 visual scenes strictly to the script beats, and apply subtle smooth transitions between cuts.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714500" y="5067605"/>
            <a:ext cx="4191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&amp; Export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714500" y="5419649"/>
            <a:ext cx="4191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MUBS color accents to titles and overlays, then export the final presentation as a 1080p MP4.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09751" y="2421331"/>
            <a:ext cx="247802" cy="247802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09751" y="3764585"/>
            <a:ext cx="247802" cy="247802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209751" y="5107838"/>
            <a:ext cx="247802" cy="24780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844638" y="5143500"/>
            <a:ext cx="32049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Project Output Preview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6667805" y="5447995"/>
            <a:ext cx="4381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video complete with narration and visuals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523683" y="5158130"/>
            <a:ext cx="190195" cy="1901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  <p:pic>
        <p:nvPicPr>
          <p:cNvPr id="27" name="create video">
            <a:hlinkClick r:id="" action="ppaction://media"/>
            <a:extLst>
              <a:ext uri="{FF2B5EF4-FFF2-40B4-BE49-F238E27FC236}">
                <a16:creationId xmlns:a16="http://schemas.microsoft.com/office/drawing/2014/main" id="{26337E29-9129-5B1D-FD60-895208235E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5957146" y="1939137"/>
            <a:ext cx="5502114" cy="30949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83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305" y="-952805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1333195" y="2286000"/>
            <a:ext cx="2857500" cy="38103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4667098" y="2286000"/>
            <a:ext cx="2857500" cy="3810305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8001000" y="2286000"/>
            <a:ext cx="2857500" cy="3810305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5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1333195" y="2286000"/>
            <a:ext cx="2857500" cy="75895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2381098" y="2667305"/>
            <a:ext cx="761695" cy="761695"/>
          </a:xfrm>
          <a:prstGeom prst="ellipse">
            <a:avLst/>
          </a:prstGeom>
          <a:solidFill>
            <a:srgbClr val="C94955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rcRect l="-201" r="-201"/>
          <a:stretch/>
        </p:blipFill>
        <p:spPr>
          <a:xfrm>
            <a:off x="4667098" y="2286000"/>
            <a:ext cx="2857500" cy="75895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5715000" y="2667305"/>
            <a:ext cx="761695" cy="761695"/>
          </a:xfrm>
          <a:prstGeom prst="ellipse">
            <a:avLst/>
          </a:prstGeom>
          <a:solidFill>
            <a:srgbClr val="2B587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/>
          <a:srcRect l="-201" r="-201"/>
          <a:stretch/>
        </p:blipFill>
        <p:spPr>
          <a:xfrm>
            <a:off x="8001000" y="2286000"/>
            <a:ext cx="2857500" cy="75895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9048902" y="2667305"/>
            <a:ext cx="761695" cy="761695"/>
          </a:xfrm>
          <a:prstGeom prst="ellipse">
            <a:avLst/>
          </a:prstGeom>
          <a:solidFill>
            <a:srgbClr val="C94955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9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Output</a:t>
            </a:r>
            <a:endParaRPr lang="en-US" sz="36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rcRect t="-14689" b="-14689"/>
          <a:stretch/>
        </p:blipFill>
        <p:spPr>
          <a:xfrm>
            <a:off x="2600554" y="2824582"/>
            <a:ext cx="323698" cy="41879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524305" y="3715207"/>
            <a:ext cx="2477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AI-Generated Video</a:t>
            </a:r>
            <a:endParaRPr lang="en-US" sz="1600" dirty="0"/>
          </a:p>
        </p:txBody>
      </p:sp>
      <p:sp>
        <p:nvSpPr>
          <p:cNvPr id="22" name="Text 11"/>
          <p:cNvSpPr txBox="1"/>
          <p:nvPr/>
        </p:nvSpPr>
        <p:spPr>
          <a:xfrm>
            <a:off x="1524305" y="4162349"/>
            <a:ext cx="24771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video featuring natural voice narration paired with dynamic AI-generated visuals.</a:t>
            </a:r>
            <a:endParaRPr lang="en-US" sz="12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9"/>
          <a:srcRect t="-14689" b="-14689"/>
          <a:stretch/>
        </p:blipFill>
        <p:spPr>
          <a:xfrm>
            <a:off x="5934456" y="2824582"/>
            <a:ext cx="323698" cy="418795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4858207" y="3715207"/>
            <a:ext cx="2477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Length</a:t>
            </a:r>
            <a:endParaRPr lang="en-US" sz="1600" dirty="0"/>
          </a:p>
        </p:txBody>
      </p:sp>
      <p:sp>
        <p:nvSpPr>
          <p:cNvPr id="25" name="Text 13"/>
          <p:cNvSpPr txBox="1"/>
          <p:nvPr/>
        </p:nvSpPr>
        <p:spPr>
          <a:xfrm>
            <a:off x="4858207" y="4162349"/>
            <a:ext cx="24771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Approximately 45–60 seconds long, perfectly timed and highly suitable for class demonstrations.</a:t>
            </a:r>
            <a:endParaRPr lang="en-US" sz="12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0"/>
          <a:srcRect t="-14689" b="-14689"/>
          <a:stretch/>
        </p:blipFill>
        <p:spPr>
          <a:xfrm>
            <a:off x="9267444" y="2824582"/>
            <a:ext cx="323698" cy="41879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8191195" y="3715207"/>
            <a:ext cx="24771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Workflow</a:t>
            </a:r>
            <a:endParaRPr lang="en-US" sz="1600" dirty="0"/>
          </a:p>
        </p:txBody>
      </p:sp>
      <p:sp>
        <p:nvSpPr>
          <p:cNvPr id="28" name="Text 15"/>
          <p:cNvSpPr txBox="1"/>
          <p:nvPr/>
        </p:nvSpPr>
        <p:spPr>
          <a:xfrm>
            <a:off x="8191195" y="4162349"/>
            <a:ext cx="24771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MUBS branding applied throughout, with a repeatable process for adapting new topics.</a:t>
            </a:r>
            <a:endParaRPr lang="en-US" sz="1200" dirty="0"/>
          </a:p>
        </p:txBody>
      </p:sp>
      <p:sp>
        <p:nvSpPr>
          <p:cNvPr id="29" name="Text 16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01707" y="-952805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-1429207" y="4286707"/>
            <a:ext cx="3333902" cy="3333902"/>
          </a:xfrm>
          <a:prstGeom prst="ellipse">
            <a:avLst/>
          </a:prstGeom>
          <a:solidFill>
            <a:srgbClr val="C94955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1333195" y="2095805"/>
            <a:ext cx="4572000" cy="1762049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6286500" y="2095805"/>
            <a:ext cx="4572000" cy="1762049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1333195" y="4143146"/>
            <a:ext cx="4572000" cy="17620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6286500" y="4143146"/>
            <a:ext cx="4572000" cy="1762049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6"/>
          <a:srcRect t="-199" b="-199"/>
          <a:stretch/>
        </p:blipFill>
        <p:spPr>
          <a:xfrm>
            <a:off x="1333195" y="2095805"/>
            <a:ext cx="75895" cy="1762049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1619402" y="2333549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2B587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/>
          <a:srcRect t="-199" b="-199"/>
          <a:stretch/>
        </p:blipFill>
        <p:spPr>
          <a:xfrm>
            <a:off x="6286500" y="2095805"/>
            <a:ext cx="75895" cy="1762049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6572707" y="2333549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C9495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7"/>
          <a:srcRect t="-199" b="-199"/>
          <a:stretch/>
        </p:blipFill>
        <p:spPr>
          <a:xfrm>
            <a:off x="1333195" y="4143146"/>
            <a:ext cx="75895" cy="1762049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1619402" y="4381805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C94955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6"/>
          <a:srcRect t="-199" b="-199"/>
          <a:stretch/>
        </p:blipFill>
        <p:spPr>
          <a:xfrm>
            <a:off x="6286500" y="4143146"/>
            <a:ext cx="75895" cy="1762049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6572707" y="4381805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2B587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1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Ethical and Social Impact</a:t>
            </a:r>
            <a:endParaRPr lang="en-US" sz="36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8"/>
          <a:srcRect t="-13131" b="-13131"/>
          <a:stretch/>
        </p:blipFill>
        <p:spPr>
          <a:xfrm>
            <a:off x="1766621" y="2457907"/>
            <a:ext cx="181051" cy="22860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2286000" y="2428646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Misinformation Risk</a:t>
            </a:r>
            <a:endParaRPr lang="en-US" sz="1600" dirty="0"/>
          </a:p>
        </p:txBody>
      </p:sp>
      <p:sp>
        <p:nvSpPr>
          <p:cNvPr id="26" name="Text 13"/>
          <p:cNvSpPr txBox="1"/>
          <p:nvPr/>
        </p:nvSpPr>
        <p:spPr>
          <a:xfrm>
            <a:off x="1619402" y="3000146"/>
            <a:ext cx="4000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tools can generate highly realistic but fabricated visuals and voices, increasing the risk of spreading false information.</a:t>
            </a:r>
            <a:endParaRPr lang="en-US" sz="12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9"/>
          <a:srcRect t="-5240" b="-5240"/>
          <a:stretch/>
        </p:blipFill>
        <p:spPr>
          <a:xfrm>
            <a:off x="6719926" y="2457907"/>
            <a:ext cx="181051" cy="228600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7239305" y="2428646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4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Misuse &amp; Deepfakes</a:t>
            </a:r>
            <a:endParaRPr lang="en-US" sz="1600" dirty="0"/>
          </a:p>
        </p:txBody>
      </p:sp>
      <p:sp>
        <p:nvSpPr>
          <p:cNvPr id="29" name="Text 15"/>
          <p:cNvSpPr txBox="1"/>
          <p:nvPr/>
        </p:nvSpPr>
        <p:spPr>
          <a:xfrm>
            <a:off x="6572707" y="3000146"/>
            <a:ext cx="4000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significant potential for impersonation, malicious deepfakes, and creating content that violates personal privacy.</a:t>
            </a:r>
            <a:endParaRPr lang="en-US" sz="12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0"/>
          <a:srcRect t="-13131" b="-13131"/>
          <a:stretch/>
        </p:blipFill>
        <p:spPr>
          <a:xfrm>
            <a:off x="1766621" y="4505249"/>
            <a:ext cx="181051" cy="22860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2286000" y="4476902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4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Copyright Concerns</a:t>
            </a:r>
            <a:endParaRPr lang="en-US" sz="1600" dirty="0"/>
          </a:p>
        </p:txBody>
      </p:sp>
      <p:sp>
        <p:nvSpPr>
          <p:cNvPr id="32" name="Text 17"/>
          <p:cNvSpPr txBox="1"/>
          <p:nvPr/>
        </p:nvSpPr>
        <p:spPr>
          <a:xfrm>
            <a:off x="1619402" y="5048402"/>
            <a:ext cx="4000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Generative models create ongoing challenges regarding intellectual property, image usage rights, and voice actor licensing.</a:t>
            </a:r>
            <a:endParaRPr lang="en-US" sz="120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1"/>
          <a:srcRect t="-28914" b="-28914"/>
          <a:stretch/>
        </p:blipFill>
        <p:spPr>
          <a:xfrm>
            <a:off x="6719926" y="4505249"/>
            <a:ext cx="181051" cy="228600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7239305" y="4476902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 in AI Outputs</a:t>
            </a:r>
            <a:endParaRPr lang="en-US" sz="1600" dirty="0"/>
          </a:p>
        </p:txBody>
      </p:sp>
      <p:sp>
        <p:nvSpPr>
          <p:cNvPr id="35" name="Text 19"/>
          <p:cNvSpPr txBox="1"/>
          <p:nvPr/>
        </p:nvSpPr>
        <p:spPr>
          <a:xfrm>
            <a:off x="6572707" y="5048402"/>
            <a:ext cx="4000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Algorithms can inherit and inadvertently amplify skewed perspectives or harmful biases present in their training data.</a:t>
            </a:r>
            <a:endParaRPr lang="en-US" sz="1200" dirty="0"/>
          </a:p>
        </p:txBody>
      </p:sp>
      <p:sp>
        <p:nvSpPr>
          <p:cNvPr id="36" name="Text 20"/>
          <p:cNvSpPr txBox="1"/>
          <p:nvPr/>
        </p:nvSpPr>
        <p:spPr>
          <a:xfrm>
            <a:off x="381305" y="6572707"/>
            <a:ext cx="11430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952805" y="4762195"/>
            <a:ext cx="3810305" cy="3810305"/>
          </a:xfrm>
          <a:prstGeom prst="ellipse">
            <a:avLst/>
          </a:prstGeom>
          <a:solidFill>
            <a:srgbClr val="2B5876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84" b="-384"/>
          <a:stretch/>
        </p:blipFill>
        <p:spPr>
          <a:xfrm>
            <a:off x="5619902" y="1524305"/>
            <a:ext cx="952805" cy="576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0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333195" y="76169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2095805" y="2238451"/>
            <a:ext cx="8572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Streamlines Content Creation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2095805" y="2667305"/>
            <a:ext cx="85725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simplifies the end‑to‑end workflow, seamlessly connecting initial topic generation directly to a polished visual and audio output.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095805" y="3634740"/>
            <a:ext cx="8572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Saves Time and Effort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2095805" y="4063594"/>
            <a:ext cx="85725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Significantly reduces the hours students spend on manual production, allowing them to focus entirely on core concepts and quality.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095805" y="5031029"/>
            <a:ext cx="8572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Demonstrates Practical Integration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2095805" y="5459882"/>
            <a:ext cx="85725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Showcases the real-world power of chaining multiple specialized AI tools to achieve complex, highly coordinated multimodal objectives.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5240" b="-5240"/>
          <a:stretch/>
        </p:blipFill>
        <p:spPr>
          <a:xfrm>
            <a:off x="1623974" y="2295144"/>
            <a:ext cx="181051" cy="22860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5240" b="-5240"/>
          <a:stretch/>
        </p:blipFill>
        <p:spPr>
          <a:xfrm>
            <a:off x="1623974" y="3691433"/>
            <a:ext cx="181051" cy="22860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28914" b="-28914"/>
          <a:stretch/>
        </p:blipFill>
        <p:spPr>
          <a:xfrm>
            <a:off x="1623974" y="5087722"/>
            <a:ext cx="181051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81305" y="6590995"/>
            <a:ext cx="11430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9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CSC211 | Modern University for Business &amp; Science 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2B587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48902" y="-1429207"/>
            <a:ext cx="4762195" cy="4762195"/>
          </a:xfrm>
          <a:prstGeom prst="ellipse">
            <a:avLst/>
          </a:prstGeom>
          <a:solidFill>
            <a:srgbClr val="2B5876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904695" y="3810305"/>
            <a:ext cx="4286707" cy="4286707"/>
          </a:xfrm>
          <a:prstGeom prst="ellipse">
            <a:avLst/>
          </a:prstGeom>
          <a:solidFill>
            <a:srgbClr val="C94955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0" y="1904695"/>
            <a:ext cx="761695" cy="761695"/>
          </a:xfrm>
          <a:prstGeom prst="ellipse">
            <a:avLst/>
          </a:prstGeom>
          <a:solidFill>
            <a:srgbClr val="C94955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286500"/>
            <a:ext cx="12191695" cy="580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384" b="-384"/>
          <a:stretch/>
        </p:blipFill>
        <p:spPr>
          <a:xfrm>
            <a:off x="5619902" y="3952951"/>
            <a:ext cx="952805" cy="57607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/>
          <a:stretch/>
        </p:blipFill>
        <p:spPr>
          <a:xfrm>
            <a:off x="10858500" y="6334049"/>
            <a:ext cx="952805" cy="476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33195" y="2000707"/>
            <a:ext cx="9525305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-150" dirty="0">
                <a:solidFill>
                  <a:srgbClr val="2B587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4" name="Text 10"/>
          <p:cNvSpPr txBox="1"/>
          <p:nvPr/>
        </p:nvSpPr>
        <p:spPr>
          <a:xfrm>
            <a:off x="1333195" y="3238805"/>
            <a:ext cx="9525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kern="0" spc="75" dirty="0">
                <a:solidFill>
                  <a:srgbClr val="C949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Questions?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0" y="4381805"/>
            <a:ext cx="7620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Rawad Youssef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Course: CSC211 – Introduction to Artificial Intelligence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t="-13131" b="-13131"/>
          <a:stretch/>
        </p:blipFill>
        <p:spPr>
          <a:xfrm>
            <a:off x="5339182" y="5238598"/>
            <a:ext cx="181051" cy="22860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5240" b="-5240"/>
          <a:stretch/>
        </p:blipFill>
        <p:spPr>
          <a:xfrm>
            <a:off x="6100877" y="5238598"/>
            <a:ext cx="181051" cy="22860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11158" b="-11158"/>
          <a:stretch/>
        </p:blipFill>
        <p:spPr>
          <a:xfrm>
            <a:off x="6862572" y="5238598"/>
            <a:ext cx="181051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81305" y="6476695"/>
            <a:ext cx="7620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587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Content Creator</a:t>
            </a:r>
            <a:r>
              <a:rPr lang="en-US" sz="1000" b="1" kern="0" spc="75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| Modern University for Business &amp; Science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1093</Words>
  <Application>Microsoft Office PowerPoint</Application>
  <PresentationFormat>Widescreen</PresentationFormat>
  <Paragraphs>141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Rawad Youssef</cp:lastModifiedBy>
  <cp:revision>4</cp:revision>
  <dcterms:created xsi:type="dcterms:W3CDTF">2026-05-04T19:57:35Z</dcterms:created>
  <dcterms:modified xsi:type="dcterms:W3CDTF">2026-05-18T22:25:36Z</dcterms:modified>
</cp:coreProperties>
</file>