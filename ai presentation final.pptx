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0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88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6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5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6.png"/><Relationship Id="rId9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5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6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5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5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6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jpeg"/><Relationship Id="rId3" Type="http://schemas.openxmlformats.org/officeDocument/2006/relationships/image" Target="../media/image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6.png"/><Relationship Id="rId9" Type="http://schemas.openxmlformats.org/officeDocument/2006/relationships/image" Target="../media/image61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6.png"/><Relationship Id="rId11" Type="http://schemas.openxmlformats.org/officeDocument/2006/relationships/image" Target="../media/image68.png"/><Relationship Id="rId5" Type="http://schemas.openxmlformats.org/officeDocument/2006/relationships/image" Target="../media/image5.png"/><Relationship Id="rId10" Type="http://schemas.openxmlformats.org/officeDocument/2006/relationships/image" Target="../media/image67.png"/><Relationship Id="rId4" Type="http://schemas.openxmlformats.org/officeDocument/2006/relationships/notesSlide" Target="../notesSlides/notesSlide10.xml"/><Relationship Id="rId9" Type="http://schemas.openxmlformats.org/officeDocument/2006/relationships/image" Target="../media/image6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71.png"/><Relationship Id="rId10" Type="http://schemas.openxmlformats.org/officeDocument/2006/relationships/image" Target="../media/image74.pn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5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6.png"/><Relationship Id="rId9" Type="http://schemas.openxmlformats.org/officeDocument/2006/relationships/image" Target="../media/image7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76695" y="-952805"/>
            <a:ext cx="5715000" cy="5715000"/>
          </a:xfrm>
          <a:prstGeom prst="ellipse">
            <a:avLst/>
          </a:prstGeom>
          <a:solidFill>
            <a:srgbClr val="2B5876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77195" y="4286707"/>
            <a:ext cx="2857500" cy="2857500"/>
          </a:xfrm>
          <a:prstGeom prst="ellipse">
            <a:avLst/>
          </a:prstGeom>
          <a:solidFill>
            <a:srgbClr val="C94955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0" y="6286500"/>
            <a:ext cx="12191695" cy="571500"/>
          </a:xfrm>
          <a:prstGeom prst="rect">
            <a:avLst/>
          </a:prstGeom>
          <a:solidFill>
            <a:srgbClr val="2B587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-401" b="-401"/>
          <a:stretch/>
        </p:blipFill>
        <p:spPr>
          <a:xfrm>
            <a:off x="0" y="6229807"/>
            <a:ext cx="12191695" cy="576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201" r="-201"/>
          <a:stretch/>
        </p:blipFill>
        <p:spPr>
          <a:xfrm>
            <a:off x="952805" y="3905402"/>
            <a:ext cx="1143000" cy="75895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52805" y="2381098"/>
            <a:ext cx="9525305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300" b="1" kern="0" spc="-75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Content Creator</a:t>
            </a:r>
            <a:endParaRPr lang="en-US" sz="4300" dirty="0"/>
          </a:p>
        </p:txBody>
      </p:sp>
      <p:sp>
        <p:nvSpPr>
          <p:cNvPr id="13" name="Text 7"/>
          <p:cNvSpPr txBox="1"/>
          <p:nvPr/>
        </p:nvSpPr>
        <p:spPr>
          <a:xfrm>
            <a:off x="952805" y="3103474"/>
            <a:ext cx="95253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4A4A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Text to Video Using AI Tools</a:t>
            </a:r>
            <a:endParaRPr lang="en-US" sz="2800" dirty="0"/>
          </a:p>
        </p:txBody>
      </p:sp>
      <p:sp>
        <p:nvSpPr>
          <p:cNvPr id="14" name="Text 8"/>
          <p:cNvSpPr txBox="1"/>
          <p:nvPr/>
        </p:nvSpPr>
        <p:spPr>
          <a:xfrm>
            <a:off x="952805" y="4381805"/>
            <a:ext cx="3143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952805" y="4667098"/>
            <a:ext cx="3143707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Rawad Youssef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4286707" y="4381805"/>
            <a:ext cx="69540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Course Information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4286707" y="4667098"/>
            <a:ext cx="69540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CSC211 – Introduction to Artificial Intelligence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4286707" y="5057546"/>
            <a:ext cx="695401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Instructor: </a:t>
            </a: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Mr. Jean Merhy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952805" y="6458407"/>
            <a:ext cx="10287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25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MODERN UNIVERSITY FOR BUSINESS &amp; SCIENCE (MUBS)</a:t>
            </a:r>
            <a:endParaRPr lang="en-US" sz="11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9F5389E-D42F-0C80-9930-C124BF5FEC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1729" y="152806"/>
            <a:ext cx="1617980" cy="16179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952805" y="476219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0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Introduction / Problem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1990649" y="2095805"/>
            <a:ext cx="867765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Content creation is time-consuming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990649" y="2542946"/>
            <a:ext cx="867765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Traditional manual workflows require significant hours devoted to conceptualization, scripting, and production.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018995" y="3462833"/>
            <a:ext cx="864931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Requires a diverse set of skills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018995" y="3910889"/>
            <a:ext cx="86493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Producing high-quality material demands simultaneous expertise in writing, voiceover acting, graphic design, and video editing.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984248" y="4830775"/>
            <a:ext cx="86868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 pressure on students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984248" y="5278831"/>
            <a:ext cx="86868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Many students struggle to deliver polished, professional presentations and videos under tight academic deadlines.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524305" y="2152498"/>
            <a:ext cx="228600" cy="22860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t="-45" b="-45"/>
          <a:stretch/>
        </p:blipFill>
        <p:spPr>
          <a:xfrm>
            <a:off x="1524305" y="3520440"/>
            <a:ext cx="256946" cy="228600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1535278" y="4888382"/>
            <a:ext cx="200254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305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333195" y="2286000"/>
            <a:ext cx="2857500" cy="3429000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667098" y="2286000"/>
            <a:ext cx="2857500" cy="3429000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001000" y="2286000"/>
            <a:ext cx="2857500" cy="342900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5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1333195" y="2286000"/>
            <a:ext cx="2857500" cy="75895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2381098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rcRect l="-201" r="-201"/>
          <a:stretch/>
        </p:blipFill>
        <p:spPr>
          <a:xfrm>
            <a:off x="4667098" y="2286000"/>
            <a:ext cx="2857500" cy="75895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5715000" y="2667305"/>
            <a:ext cx="761695" cy="761695"/>
          </a:xfrm>
          <a:prstGeom prst="ellipse">
            <a:avLst/>
          </a:prstGeom>
          <a:solidFill>
            <a:srgbClr val="2B5876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8001000" y="2286000"/>
            <a:ext cx="2857500" cy="75895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9048902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Objective</a:t>
            </a:r>
            <a:endParaRPr lang="en-US" sz="3600" dirty="0"/>
          </a:p>
        </p:txBody>
      </p:sp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8"/>
          <a:srcRect l="-44" r="-44"/>
          <a:stretch/>
        </p:blipFill>
        <p:spPr>
          <a:xfrm>
            <a:off x="2499970" y="2824582"/>
            <a:ext cx="523951" cy="418795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52430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Automated Creation</a:t>
            </a:r>
            <a:endParaRPr lang="en-US" sz="1600" dirty="0"/>
          </a:p>
        </p:txBody>
      </p:sp>
      <p:sp>
        <p:nvSpPr>
          <p:cNvPr id="22" name="Text 11"/>
          <p:cNvSpPr txBox="1"/>
          <p:nvPr/>
        </p:nvSpPr>
        <p:spPr>
          <a:xfrm>
            <a:off x="1524305" y="4162349"/>
            <a:ext cx="247711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an AI system that automatically creates short videos from a given topic.</a:t>
            </a:r>
            <a:endParaRPr lang="en-US" sz="12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9"/>
          <a:srcRect l="-558" r="-558"/>
          <a:stretch/>
        </p:blipFill>
        <p:spPr>
          <a:xfrm>
            <a:off x="5857646" y="2824582"/>
            <a:ext cx="476402" cy="418795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4858207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Simplified Workflow</a:t>
            </a:r>
            <a:endParaRPr lang="en-US" sz="1600" dirty="0"/>
          </a:p>
        </p:txBody>
      </p:sp>
      <p:sp>
        <p:nvSpPr>
          <p:cNvPr id="25" name="Text 13"/>
          <p:cNvSpPr txBox="1"/>
          <p:nvPr/>
        </p:nvSpPr>
        <p:spPr>
          <a:xfrm>
            <a:off x="4858207" y="4162349"/>
            <a:ext cx="247711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Simplify the end-to-end video workflow using accessible and modern AI tools.</a:t>
            </a:r>
            <a:endParaRPr lang="en-US" sz="120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219895" y="2824582"/>
            <a:ext cx="418795" cy="418795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819119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Consistent Quality</a:t>
            </a:r>
            <a:endParaRPr lang="en-US" sz="1600" dirty="0"/>
          </a:p>
        </p:txBody>
      </p:sp>
      <p:sp>
        <p:nvSpPr>
          <p:cNvPr id="28" name="Text 15"/>
          <p:cNvSpPr txBox="1"/>
          <p:nvPr/>
        </p:nvSpPr>
        <p:spPr>
          <a:xfrm>
            <a:off x="8191195" y="4162349"/>
            <a:ext cx="247711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Reduce effort significantly while keeping output quality high and consistent.</a:t>
            </a:r>
            <a:endParaRPr lang="en-US" sz="1200" dirty="0"/>
          </a:p>
        </p:txBody>
      </p:sp>
      <p:sp>
        <p:nvSpPr>
          <p:cNvPr id="29" name="Text 16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1429207" y="-1429207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01707" y="4286707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86500" y="2095805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286500" y="3143707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86500" y="4190695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86500" y="5238598"/>
            <a:ext cx="4762195" cy="952805"/>
          </a:xfrm>
          <a:prstGeom prst="roundRect">
            <a:avLst>
              <a:gd name="adj" fmla="val 230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t="-217" b="-217"/>
          <a:stretch/>
        </p:blipFill>
        <p:spPr>
          <a:xfrm>
            <a:off x="6286500" y="2095805"/>
            <a:ext cx="75895" cy="95280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524244" y="2286000"/>
            <a:ext cx="571500" cy="571500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6286500" y="3143707"/>
            <a:ext cx="75895" cy="952805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524244" y="3333902"/>
            <a:ext cx="571500" cy="571500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rcRect t="-217" b="-217"/>
          <a:stretch/>
        </p:blipFill>
        <p:spPr>
          <a:xfrm>
            <a:off x="6286500" y="4190695"/>
            <a:ext cx="75895" cy="952805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6524244" y="4381805"/>
            <a:ext cx="571500" cy="571500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6"/>
          <a:srcRect t="-217" b="-217"/>
          <a:stretch/>
        </p:blipFill>
        <p:spPr>
          <a:xfrm>
            <a:off x="6286500" y="5238598"/>
            <a:ext cx="75895" cy="952805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6524244" y="5429707"/>
            <a:ext cx="571500" cy="571500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Approach</a:t>
            </a:r>
            <a:endParaRPr lang="en-US" sz="3600" dirty="0"/>
          </a:p>
        </p:txBody>
      </p:sp>
      <p:sp>
        <p:nvSpPr>
          <p:cNvPr id="24" name="Text 16"/>
          <p:cNvSpPr txBox="1"/>
          <p:nvPr/>
        </p:nvSpPr>
        <p:spPr>
          <a:xfrm>
            <a:off x="1143000" y="2667305"/>
            <a:ext cx="4910328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Automated Multimedia Pipeline</a:t>
            </a:r>
            <a:endParaRPr lang="en-US" sz="2100" dirty="0"/>
          </a:p>
        </p:txBody>
      </p:sp>
      <p:sp>
        <p:nvSpPr>
          <p:cNvPr id="25" name="Text 17"/>
          <p:cNvSpPr txBox="1"/>
          <p:nvPr/>
        </p:nvSpPr>
        <p:spPr>
          <a:xfrm>
            <a:off x="1143000" y="3242462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approach integrates state-of-the-art artificial intelligence models to fully automate the video production process.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1143000" y="4385462"/>
            <a:ext cx="4572000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By chaining specialized AI tools, we transform a simple text topic into a complete, polished multimedia presentation, eliminating manual bottlenecks and saving significant creation time.</a:t>
            </a:r>
            <a:endParaRPr lang="en-US" sz="15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696151" y="2447849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286854" y="2238451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Generative AI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7286854" y="2505456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project outline, structured script, and image prompts from the initial topic.</a:t>
            </a:r>
            <a:endParaRPr lang="en-US" sz="11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8"/>
          <a:srcRect l="-133" r="-133"/>
          <a:stretch/>
        </p:blipFill>
        <p:spPr>
          <a:xfrm>
            <a:off x="6724498" y="3495751"/>
            <a:ext cx="171907" cy="2286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286854" y="3286354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7286854" y="3552444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Converts the generated script into high-quality, natural-sounding voiceover narration.</a:t>
            </a:r>
            <a:endParaRPr lang="en-US" sz="11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96151" y="4543654"/>
            <a:ext cx="228600" cy="2286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286854" y="4334256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Image Generation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7286854" y="4600346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Produces custom visual assets, illustrations, and b-roll footage matching the script.</a:t>
            </a:r>
            <a:endParaRPr lang="en-US" sz="11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10"/>
          <a:srcRect t="-45" b="-45"/>
          <a:stretch/>
        </p:blipFill>
        <p:spPr>
          <a:xfrm>
            <a:off x="6681521" y="5591556"/>
            <a:ext cx="256946" cy="228600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286854" y="5381244"/>
            <a:ext cx="35725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 Creation</a:t>
            </a:r>
            <a:endParaRPr lang="en-US" sz="1500" dirty="0"/>
          </a:p>
        </p:txBody>
      </p:sp>
      <p:sp>
        <p:nvSpPr>
          <p:cNvPr id="38" name="Text 26"/>
          <p:cNvSpPr txBox="1"/>
          <p:nvPr/>
        </p:nvSpPr>
        <p:spPr>
          <a:xfrm>
            <a:off x="7286854" y="5648249"/>
            <a:ext cx="3572561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Assembles the audio, generated visuals, and text into a final, synced timeline.</a:t>
            </a:r>
            <a:endParaRPr lang="en-US" sz="1100" dirty="0"/>
          </a:p>
        </p:txBody>
      </p:sp>
      <p:sp>
        <p:nvSpPr>
          <p:cNvPr id="39" name="Text 27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1429207" y="-1429207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01707" y="4286707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86500" y="1809598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286500" y="2714854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86500" y="3619195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86500" y="4524451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86500" y="5429707"/>
            <a:ext cx="4762195" cy="809244"/>
          </a:xfrm>
          <a:prstGeom prst="roundRect">
            <a:avLst>
              <a:gd name="adj" fmla="val 3190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1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t="-177" b="-177"/>
          <a:stretch/>
        </p:blipFill>
        <p:spPr>
          <a:xfrm>
            <a:off x="6286500" y="1809598"/>
            <a:ext cx="75895" cy="8092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524244" y="1971446"/>
            <a:ext cx="476402" cy="476402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t="-177" b="-177"/>
          <a:stretch/>
        </p:blipFill>
        <p:spPr>
          <a:xfrm>
            <a:off x="6286500" y="2714854"/>
            <a:ext cx="75895" cy="80924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524244" y="2876702"/>
            <a:ext cx="476402" cy="476402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 t="-177" b="-177"/>
          <a:stretch/>
        </p:blipFill>
        <p:spPr>
          <a:xfrm>
            <a:off x="6286500" y="3619195"/>
            <a:ext cx="75895" cy="809244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524244" y="3781044"/>
            <a:ext cx="476402" cy="476402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6"/>
          <a:srcRect t="-177" b="-177"/>
          <a:stretch/>
        </p:blipFill>
        <p:spPr>
          <a:xfrm>
            <a:off x="6286500" y="4524451"/>
            <a:ext cx="75895" cy="809244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524244" y="4686300"/>
            <a:ext cx="476402" cy="476402"/>
          </a:xfrm>
          <a:prstGeom prst="ellipse">
            <a:avLst/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5"/>
          <a:srcRect t="-177" b="-177"/>
          <a:stretch/>
        </p:blipFill>
        <p:spPr>
          <a:xfrm>
            <a:off x="6286500" y="5429707"/>
            <a:ext cx="75895" cy="809244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524244" y="5591556"/>
            <a:ext cx="476402" cy="476402"/>
          </a:xfrm>
          <a:prstGeom prst="ellipse">
            <a:avLst/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Tools Used</a:t>
            </a:r>
            <a:endParaRPr lang="en-US" sz="3600" dirty="0"/>
          </a:p>
        </p:txBody>
      </p:sp>
      <p:sp>
        <p:nvSpPr>
          <p:cNvPr id="27" name="Text 18"/>
          <p:cNvSpPr txBox="1"/>
          <p:nvPr/>
        </p:nvSpPr>
        <p:spPr>
          <a:xfrm>
            <a:off x="1143000" y="2190902"/>
            <a:ext cx="45720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Integrated AI Stack</a:t>
            </a:r>
            <a:endParaRPr lang="en-US" sz="2100" dirty="0"/>
          </a:p>
        </p:txBody>
      </p:sp>
      <p:sp>
        <p:nvSpPr>
          <p:cNvPr id="28" name="Text 19"/>
          <p:cNvSpPr txBox="1"/>
          <p:nvPr/>
        </p:nvSpPr>
        <p:spPr>
          <a:xfrm>
            <a:off x="1143000" y="27660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achieve a seamless content creation process, we leverage a specialized suite of accessible AI-powered applications.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1143000" y="3909060"/>
            <a:ext cx="4572000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Each tool is carefully selected to handle a specific part of the workflow—from initial script writing to final video assembly—ensuring a professional output with minimal manual effort.</a:t>
            </a:r>
            <a:endParaRPr lang="en-US" sz="150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644030" y="2100377"/>
            <a:ext cx="237744" cy="190195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191756" y="1923898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ChatGPT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7191756" y="2171700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the engaging video script and precise image prompts.</a:t>
            </a:r>
            <a:endParaRPr lang="en-US" sz="1000" dirty="0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8"/>
          <a:srcRect l="-1282" r="-1282"/>
          <a:stretch/>
        </p:blipFill>
        <p:spPr>
          <a:xfrm>
            <a:off x="6653174" y="3004718"/>
            <a:ext cx="219456" cy="190195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191756" y="2829154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Flow</a:t>
            </a:r>
            <a:endParaRPr lang="en-US" sz="1300" dirty="0"/>
          </a:p>
        </p:txBody>
      </p:sp>
      <p:sp>
        <p:nvSpPr>
          <p:cNvPr id="35" name="Text 24"/>
          <p:cNvSpPr txBox="1"/>
          <p:nvPr/>
        </p:nvSpPr>
        <p:spPr>
          <a:xfrm>
            <a:off x="7191756" y="3076956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Organizes and connects the sequence of AI workflow steps.</a:t>
            </a:r>
            <a:endParaRPr lang="en-US" sz="10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67805" y="3909974"/>
            <a:ext cx="190195" cy="190195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7191756" y="3733495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Nano Banana 2</a:t>
            </a:r>
            <a:endParaRPr lang="en-US" sz="1300" dirty="0"/>
          </a:p>
        </p:txBody>
      </p:sp>
      <p:sp>
        <p:nvSpPr>
          <p:cNvPr id="38" name="Text 26"/>
          <p:cNvSpPr txBox="1"/>
          <p:nvPr/>
        </p:nvSpPr>
        <p:spPr>
          <a:xfrm>
            <a:off x="7191756" y="3981298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Creates highly detailed, custom images from the generated prompts.</a:t>
            </a:r>
            <a:endParaRPr lang="en-US" sz="1000" dirty="0"/>
          </a:p>
        </p:txBody>
      </p:sp>
      <p:pic>
        <p:nvPicPr>
          <p:cNvPr id="39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691579" y="4815230"/>
            <a:ext cx="142646" cy="190195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7191756" y="4638751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TTSMaker</a:t>
            </a:r>
            <a:endParaRPr lang="en-US" sz="1300" dirty="0"/>
          </a:p>
        </p:txBody>
      </p:sp>
      <p:sp>
        <p:nvSpPr>
          <p:cNvPr id="41" name="Text 28"/>
          <p:cNvSpPr txBox="1"/>
          <p:nvPr/>
        </p:nvSpPr>
        <p:spPr>
          <a:xfrm>
            <a:off x="7191756" y="4886554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Converts the text script into a natural, human-sounding voiceover.</a:t>
            </a:r>
            <a:endParaRPr lang="en-US" sz="10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1"/>
          <a:srcRect l="-1282" r="-1282"/>
          <a:stretch/>
        </p:blipFill>
        <p:spPr>
          <a:xfrm>
            <a:off x="6653174" y="5719572"/>
            <a:ext cx="219456" cy="19019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191756" y="5544007"/>
            <a:ext cx="366765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Canva</a:t>
            </a:r>
            <a:endParaRPr lang="en-US" sz="1300" dirty="0"/>
          </a:p>
        </p:txBody>
      </p:sp>
      <p:sp>
        <p:nvSpPr>
          <p:cNvPr id="44" name="Text 30"/>
          <p:cNvSpPr txBox="1"/>
          <p:nvPr/>
        </p:nvSpPr>
        <p:spPr>
          <a:xfrm>
            <a:off x="7191756" y="5790895"/>
            <a:ext cx="36676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Assembles the voice, generated visuals, and text into the final video.</a:t>
            </a:r>
            <a:endParaRPr lang="en-US" sz="1000" dirty="0"/>
          </a:p>
        </p:txBody>
      </p:sp>
      <p:sp>
        <p:nvSpPr>
          <p:cNvPr id="45" name="Text 31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77195" y="4762195"/>
            <a:ext cx="2857500" cy="2857500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952805" y="-952805"/>
            <a:ext cx="3333902" cy="3333902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201" r="-201"/>
          <a:stretch/>
        </p:blipFill>
        <p:spPr>
          <a:xfrm>
            <a:off x="1524305" y="3200400"/>
            <a:ext cx="9144000" cy="75895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1524305" y="3200400"/>
            <a:ext cx="9144000" cy="75895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52805" y="2667305"/>
            <a:ext cx="1143000" cy="1143000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238805" y="2667305"/>
            <a:ext cx="1143000" cy="1143000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524805" y="2667305"/>
            <a:ext cx="1143000" cy="1143000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810805" y="2667305"/>
            <a:ext cx="1143000" cy="114300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96805" y="2667305"/>
            <a:ext cx="1143000" cy="114300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476195" y="3047695"/>
            <a:ext cx="381305" cy="38130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762195" y="3047695"/>
            <a:ext cx="381305" cy="381305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048195" y="3047695"/>
            <a:ext cx="381305" cy="381305"/>
          </a:xfrm>
          <a:prstGeom prst="rect">
            <a:avLst/>
          </a:prstGeom>
        </p:spPr>
      </p:pic>
      <p:pic>
        <p:nvPicPr>
          <p:cNvPr id="21" name="Image 12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9334195" y="3047695"/>
            <a:ext cx="381305" cy="381305"/>
          </a:xfrm>
          <a:prstGeom prst="rect">
            <a:avLst/>
          </a:prstGeom>
        </p:spPr>
      </p:pic>
      <p:sp>
        <p:nvSpPr>
          <p:cNvPr id="22" name="Text 7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Workflow</a:t>
            </a:r>
            <a:endParaRPr lang="en-US" sz="3600" dirty="0"/>
          </a:p>
        </p:txBody>
      </p:sp>
      <p:pic>
        <p:nvPicPr>
          <p:cNvPr id="23" name="Image 13" descr="preencoded.png"/>
          <p:cNvPicPr>
            <a:picLocks noChangeAspect="1"/>
          </p:cNvPicPr>
          <p:nvPr/>
        </p:nvPicPr>
        <p:blipFill>
          <a:blip r:embed="rId9"/>
          <a:srcRect l="-73" r="-73"/>
          <a:stretch/>
        </p:blipFill>
        <p:spPr>
          <a:xfrm>
            <a:off x="1367028" y="3014777"/>
            <a:ext cx="314554" cy="418795"/>
          </a:xfrm>
          <a:prstGeom prst="rect">
            <a:avLst/>
          </a:prstGeom>
        </p:spPr>
      </p:pic>
      <p:sp>
        <p:nvSpPr>
          <p:cNvPr id="24" name="Text 8"/>
          <p:cNvSpPr txBox="1"/>
          <p:nvPr/>
        </p:nvSpPr>
        <p:spPr>
          <a:xfrm>
            <a:off x="476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 Topic</a:t>
            </a:r>
            <a:endParaRPr lang="en-US" sz="1800" dirty="0"/>
          </a:p>
        </p:txBody>
      </p:sp>
      <p:sp>
        <p:nvSpPr>
          <p:cNvPr id="25" name="Text 9"/>
          <p:cNvSpPr txBox="1"/>
          <p:nvPr/>
        </p:nvSpPr>
        <p:spPr>
          <a:xfrm>
            <a:off x="476402" y="4429354"/>
            <a:ext cx="2095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Define core subject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0"/>
          <a:srcRect t="-1087" b="-1087"/>
          <a:stretch/>
        </p:blipFill>
        <p:spPr>
          <a:xfrm>
            <a:off x="2614270" y="3145536"/>
            <a:ext cx="105156" cy="171907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rcRect l="-40" r="-40"/>
          <a:stretch/>
        </p:blipFill>
        <p:spPr>
          <a:xfrm>
            <a:off x="3666744" y="3038551"/>
            <a:ext cx="286207" cy="381305"/>
          </a:xfrm>
          <a:prstGeom prst="rect">
            <a:avLst/>
          </a:prstGeom>
        </p:spPr>
      </p:pic>
      <p:sp>
        <p:nvSpPr>
          <p:cNvPr id="28" name="Text 10"/>
          <p:cNvSpPr txBox="1"/>
          <p:nvPr/>
        </p:nvSpPr>
        <p:spPr>
          <a:xfrm>
            <a:off x="2762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 Script</a:t>
            </a:r>
            <a:endParaRPr lang="en-US" sz="1800" dirty="0"/>
          </a:p>
        </p:txBody>
      </p:sp>
      <p:sp>
        <p:nvSpPr>
          <p:cNvPr id="29" name="Text 11"/>
          <p:cNvSpPr txBox="1"/>
          <p:nvPr/>
        </p:nvSpPr>
        <p:spPr>
          <a:xfrm>
            <a:off x="2716682" y="4429354"/>
            <a:ext cx="218724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 outline &amp; text</a:t>
            </a:r>
            <a:endParaRPr lang="en-US" sz="120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10"/>
          <a:srcRect t="-1087" b="-1087"/>
          <a:stretch/>
        </p:blipFill>
        <p:spPr>
          <a:xfrm>
            <a:off x="4900270" y="3145536"/>
            <a:ext cx="105156" cy="171907"/>
          </a:xfrm>
          <a:prstGeom prst="rect">
            <a:avLst/>
          </a:prstGeom>
        </p:spPr>
      </p:pic>
      <p:pic>
        <p:nvPicPr>
          <p:cNvPr id="31" name="Image 17" descr="preencoded.png"/>
          <p:cNvPicPr>
            <a:picLocks noChangeAspect="1"/>
          </p:cNvPicPr>
          <p:nvPr/>
        </p:nvPicPr>
        <p:blipFill>
          <a:blip r:embed="rId12"/>
          <a:srcRect l="-685" r="-685"/>
          <a:stretch/>
        </p:blipFill>
        <p:spPr>
          <a:xfrm>
            <a:off x="5943600" y="3031236"/>
            <a:ext cx="304495" cy="400507"/>
          </a:xfrm>
          <a:prstGeom prst="rect">
            <a:avLst/>
          </a:prstGeom>
        </p:spPr>
      </p:pic>
      <p:sp>
        <p:nvSpPr>
          <p:cNvPr id="32" name="Text 12"/>
          <p:cNvSpPr txBox="1"/>
          <p:nvPr/>
        </p:nvSpPr>
        <p:spPr>
          <a:xfrm>
            <a:off x="5048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 Voice</a:t>
            </a:r>
            <a:endParaRPr lang="en-US" sz="1800" dirty="0"/>
          </a:p>
        </p:txBody>
      </p:sp>
      <p:sp>
        <p:nvSpPr>
          <p:cNvPr id="33" name="Text 13"/>
          <p:cNvSpPr txBox="1"/>
          <p:nvPr/>
        </p:nvSpPr>
        <p:spPr>
          <a:xfrm>
            <a:off x="5048402" y="4429354"/>
            <a:ext cx="2095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 text to speech</a:t>
            </a:r>
            <a:endParaRPr lang="en-US" sz="12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0"/>
          <a:srcRect t="-1087" b="-1087"/>
          <a:stretch/>
        </p:blipFill>
        <p:spPr>
          <a:xfrm>
            <a:off x="7186270" y="3145536"/>
            <a:ext cx="105156" cy="171907"/>
          </a:xfrm>
          <a:prstGeom prst="rect">
            <a:avLst/>
          </a:prstGeom>
        </p:spPr>
      </p:pic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3"/>
          <a:srcRect t="-13" b="-13"/>
          <a:stretch/>
        </p:blipFill>
        <p:spPr>
          <a:xfrm>
            <a:off x="8167421" y="3038551"/>
            <a:ext cx="428854" cy="381305"/>
          </a:xfrm>
          <a:prstGeom prst="rect">
            <a:avLst/>
          </a:prstGeom>
        </p:spPr>
      </p:pic>
      <p:sp>
        <p:nvSpPr>
          <p:cNvPr id="36" name="Text 14"/>
          <p:cNvSpPr txBox="1"/>
          <p:nvPr/>
        </p:nvSpPr>
        <p:spPr>
          <a:xfrm>
            <a:off x="7334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 Images</a:t>
            </a:r>
            <a:endParaRPr lang="en-US" sz="1800" dirty="0"/>
          </a:p>
        </p:txBody>
      </p:sp>
      <p:sp>
        <p:nvSpPr>
          <p:cNvPr id="37" name="Text 15"/>
          <p:cNvSpPr txBox="1"/>
          <p:nvPr/>
        </p:nvSpPr>
        <p:spPr>
          <a:xfrm>
            <a:off x="7334402" y="4429354"/>
            <a:ext cx="209580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Create visual assets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0"/>
          <a:srcRect t="-1087" b="-1087"/>
          <a:stretch/>
        </p:blipFill>
        <p:spPr>
          <a:xfrm>
            <a:off x="9472270" y="3145536"/>
            <a:ext cx="105156" cy="171907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10468051" y="3031236"/>
            <a:ext cx="400507" cy="400507"/>
          </a:xfrm>
          <a:prstGeom prst="rect">
            <a:avLst/>
          </a:prstGeom>
        </p:spPr>
      </p:pic>
      <p:sp>
        <p:nvSpPr>
          <p:cNvPr id="40" name="Text 16"/>
          <p:cNvSpPr txBox="1"/>
          <p:nvPr/>
        </p:nvSpPr>
        <p:spPr>
          <a:xfrm>
            <a:off x="9620402" y="4095598"/>
            <a:ext cx="20958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5. Video</a:t>
            </a:r>
            <a:endParaRPr lang="en-US" sz="1800" dirty="0"/>
          </a:p>
        </p:txBody>
      </p:sp>
      <p:sp>
        <p:nvSpPr>
          <p:cNvPr id="41" name="Text 17"/>
          <p:cNvSpPr txBox="1"/>
          <p:nvPr/>
        </p:nvSpPr>
        <p:spPr>
          <a:xfrm>
            <a:off x="9421063" y="4429354"/>
            <a:ext cx="249448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Assemble final presentation</a:t>
            </a:r>
            <a:endParaRPr lang="en-US" sz="1200" dirty="0"/>
          </a:p>
        </p:txBody>
      </p:sp>
      <p:sp>
        <p:nvSpPr>
          <p:cNvPr id="42" name="Text 18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952805" y="3810305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485900" y="2057400"/>
            <a:ext cx="9219895" cy="4267505"/>
          </a:xfrm>
          <a:prstGeom prst="roundRect">
            <a:avLst>
              <a:gd name="adj" fmla="val 1148"/>
            </a:avLst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7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36" r="-36"/>
          <a:stretch/>
        </p:blipFill>
        <p:spPr>
          <a:xfrm>
            <a:off x="1524305" y="2095805"/>
            <a:ext cx="9144000" cy="418795"/>
          </a:xfrm>
          <a:prstGeom prst="rect">
            <a:avLst/>
          </a:prstGeom>
        </p:spPr>
      </p:pic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24305" y="2514600"/>
            <a:ext cx="9144000" cy="37719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714500" y="2238451"/>
            <a:ext cx="133502" cy="133502"/>
          </a:xfrm>
          <a:prstGeom prst="ellipse">
            <a:avLst/>
          </a:prstGeom>
          <a:solidFill>
            <a:srgbClr val="C949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943100" y="2238451"/>
            <a:ext cx="133502" cy="133502"/>
          </a:xfrm>
          <a:prstGeom prst="ellipse">
            <a:avLst/>
          </a:prstGeom>
          <a:solidFill>
            <a:srgbClr val="F1C40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2171700" y="2238451"/>
            <a:ext cx="133502" cy="133502"/>
          </a:xfrm>
          <a:prstGeom prst="ellipse">
            <a:avLst/>
          </a:prstGeom>
          <a:solidFill>
            <a:srgbClr val="2ECC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05695" y="5524805"/>
            <a:ext cx="571500" cy="5715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Script Example</a:t>
            </a:r>
            <a:endParaRPr lang="en-US" sz="3600" dirty="0"/>
          </a:p>
        </p:txBody>
      </p:sp>
      <p:sp>
        <p:nvSpPr>
          <p:cNvPr id="19" name="Text 12"/>
          <p:cNvSpPr txBox="1"/>
          <p:nvPr/>
        </p:nvSpPr>
        <p:spPr>
          <a:xfrm>
            <a:off x="2476195" y="2190902"/>
            <a:ext cx="7620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generated_script.txt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809598" y="2762402"/>
            <a:ext cx="85725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[INTRO SCENE]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809598" y="3110789"/>
            <a:ext cx="85725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"Welcome! In this project, an AI assistant turns a topic into a short, engaging video. Step one: we expand the topic 'Benefits of Daily Biking' into a clear 45‑second script with intro, three key points, and a call to action."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809598" y="4060850"/>
            <a:ext cx="85725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[MAIN BODY]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1809598" y="4410151"/>
            <a:ext cx="85725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"Next, we generate a natural voiceover and visuals that match each line. Finally, we assemble everything into a clean, modern video suitable for class presentations."</a:t>
            </a:r>
            <a:endParaRPr lang="en-US" sz="14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077602" y="5695798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305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1429207" y="3810305"/>
            <a:ext cx="3333902" cy="3333902"/>
          </a:xfrm>
          <a:prstGeom prst="ellipse">
            <a:avLst/>
          </a:prstGeom>
          <a:solidFill>
            <a:srgbClr val="C94955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 t="-6" b="-6"/>
          <a:stretch/>
        </p:blipFill>
        <p:spPr>
          <a:xfrm>
            <a:off x="6858000" y="2095805"/>
            <a:ext cx="4190695" cy="390540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l="-197" r="-197"/>
          <a:stretch/>
        </p:blipFill>
        <p:spPr>
          <a:xfrm>
            <a:off x="6858000" y="2095805"/>
            <a:ext cx="4190695" cy="75895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572500" y="247619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Voice Generation (TTSMaker)</a:t>
            </a:r>
            <a:endParaRPr lang="en-US" sz="3600" dirty="0"/>
          </a:p>
        </p:txBody>
      </p:sp>
      <p:sp>
        <p:nvSpPr>
          <p:cNvPr id="15" name="Text 9"/>
          <p:cNvSpPr txBox="1"/>
          <p:nvPr/>
        </p:nvSpPr>
        <p:spPr>
          <a:xfrm>
            <a:off x="1810512" y="2381098"/>
            <a:ext cx="44769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 Script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1810512" y="2734056"/>
            <a:ext cx="447690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Paste the finalized AI-generated script directly into the TTSMaker interface.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1772107" y="3676802"/>
            <a:ext cx="45153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Configure Voice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772107" y="4028846"/>
            <a:ext cx="4515307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Choose language (English), select an engaging voice profile, and adjust speed/pitch for a natural tone.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1772107" y="4972507"/>
            <a:ext cx="45153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 &amp; Review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1772107" y="5324551"/>
            <a:ext cx="4515307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Download the generated audio as an MP3 file, and review it for clarity, pacing, and correct pronunciation.</a:t>
            </a:r>
            <a:endParaRPr lang="en-US" sz="13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53312" y="2421331"/>
            <a:ext cx="247802" cy="247802"/>
          </a:xfrm>
          <a:prstGeom prst="rect">
            <a:avLst/>
          </a:prstGeom>
        </p:spPr>
      </p:pic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333195" y="3717036"/>
            <a:ext cx="247802" cy="247802"/>
          </a:xfrm>
          <a:prstGeom prst="rect">
            <a:avLst/>
          </a:prstGeom>
        </p:spPr>
      </p:pic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333195" y="5012741"/>
            <a:ext cx="247802" cy="247802"/>
          </a:xfrm>
          <a:prstGeom prst="rect">
            <a:avLst/>
          </a:prstGeom>
        </p:spPr>
      </p:pic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10"/>
          <a:srcRect l="-90" r="-90"/>
          <a:stretch/>
        </p:blipFill>
        <p:spPr>
          <a:xfrm>
            <a:off x="8762695" y="2723998"/>
            <a:ext cx="381305" cy="304495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239305" y="34290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Generated Voice Sample</a:t>
            </a:r>
            <a:endParaRPr lang="en-US" sz="1500" dirty="0"/>
          </a:p>
        </p:txBody>
      </p:sp>
      <p:sp>
        <p:nvSpPr>
          <p:cNvPr id="26" name="Shape 16"/>
          <p:cNvSpPr/>
          <p:nvPr/>
        </p:nvSpPr>
        <p:spPr>
          <a:xfrm>
            <a:off x="7239305" y="4410151"/>
            <a:ext cx="57607" cy="114300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7463333" y="4295851"/>
            <a:ext cx="57607" cy="228600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11">
            <a:alphaModFix amt="80000"/>
          </a:blip>
          <a:srcRect l="-373" r="-373"/>
          <a:stretch/>
        </p:blipFill>
        <p:spPr>
          <a:xfrm>
            <a:off x="7688275" y="4095598"/>
            <a:ext cx="57607" cy="428854"/>
          </a:xfrm>
          <a:prstGeom prst="rect">
            <a:avLst/>
          </a:prstGeom>
        </p:spPr>
      </p:pic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12">
            <a:alphaModFix amt="80000"/>
          </a:blip>
          <a:srcRect l="-400" r="-400"/>
          <a:stretch/>
        </p:blipFill>
        <p:spPr>
          <a:xfrm>
            <a:off x="7913218" y="3952951"/>
            <a:ext cx="57607" cy="571500"/>
          </a:xfrm>
          <a:prstGeom prst="rect">
            <a:avLst/>
          </a:prstGeom>
        </p:spPr>
      </p:pic>
      <p:pic>
        <p:nvPicPr>
          <p:cNvPr id="30" name="Image 10" descr="preencoded.png"/>
          <p:cNvPicPr>
            <a:picLocks noChangeAspect="1"/>
          </p:cNvPicPr>
          <p:nvPr/>
        </p:nvPicPr>
        <p:blipFill>
          <a:blip r:embed="rId13">
            <a:alphaModFix amt="80000"/>
          </a:blip>
          <a:srcRect l="-400" r="-400"/>
          <a:stretch/>
        </p:blipFill>
        <p:spPr>
          <a:xfrm>
            <a:off x="8138160" y="4181551"/>
            <a:ext cx="57607" cy="342900"/>
          </a:xfrm>
          <a:prstGeom prst="rect">
            <a:avLst/>
          </a:prstGeom>
        </p:spPr>
      </p:pic>
      <p:sp>
        <p:nvSpPr>
          <p:cNvPr id="31" name="Shape 18"/>
          <p:cNvSpPr/>
          <p:nvPr/>
        </p:nvSpPr>
        <p:spPr>
          <a:xfrm>
            <a:off x="8363102" y="4352544"/>
            <a:ext cx="57607" cy="171907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4">
            <a:alphaModFix amt="80000"/>
          </a:blip>
          <a:srcRect l="-424" r="-424"/>
          <a:stretch/>
        </p:blipFill>
        <p:spPr>
          <a:xfrm>
            <a:off x="8588045" y="4038905"/>
            <a:ext cx="57607" cy="485546"/>
          </a:xfrm>
          <a:prstGeom prst="rect">
            <a:avLst/>
          </a:prstGeom>
        </p:spPr>
      </p:pic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5">
            <a:alphaModFix amt="80000"/>
          </a:blip>
          <a:srcRect l="-379" r="-379"/>
          <a:stretch/>
        </p:blipFill>
        <p:spPr>
          <a:xfrm>
            <a:off x="8812987" y="3981298"/>
            <a:ext cx="57607" cy="543154"/>
          </a:xfrm>
          <a:prstGeom prst="rect">
            <a:avLst/>
          </a:prstGeom>
        </p:spPr>
      </p:pic>
      <p:sp>
        <p:nvSpPr>
          <p:cNvPr id="34" name="Shape 19"/>
          <p:cNvSpPr/>
          <p:nvPr/>
        </p:nvSpPr>
        <p:spPr>
          <a:xfrm>
            <a:off x="9037015" y="4238244"/>
            <a:ext cx="57607" cy="286207"/>
          </a:xfrm>
          <a:prstGeom prst="roundRect">
            <a:avLst>
              <a:gd name="adj" fmla="val 1587307"/>
            </a:avLst>
          </a:prstGeom>
          <a:solidFill>
            <a:srgbClr val="2B5876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20"/>
          <p:cNvSpPr/>
          <p:nvPr/>
        </p:nvSpPr>
        <p:spPr>
          <a:xfrm>
            <a:off x="9261958" y="4295851"/>
            <a:ext cx="57607" cy="228600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13" descr="preencoded.png"/>
          <p:cNvPicPr>
            <a:picLocks noChangeAspect="1"/>
          </p:cNvPicPr>
          <p:nvPr/>
        </p:nvPicPr>
        <p:blipFill>
          <a:blip r:embed="rId16">
            <a:alphaModFix amt="80000"/>
          </a:blip>
          <a:srcRect l="-342" r="-342"/>
          <a:stretch/>
        </p:blipFill>
        <p:spPr>
          <a:xfrm>
            <a:off x="9486900" y="4123944"/>
            <a:ext cx="57607" cy="400507"/>
          </a:xfrm>
          <a:prstGeom prst="rect">
            <a:avLst/>
          </a:prstGeom>
        </p:spPr>
      </p:pic>
      <p:pic>
        <p:nvPicPr>
          <p:cNvPr id="37" name="Image 14" descr="preencoded.png"/>
          <p:cNvPicPr>
            <a:picLocks noChangeAspect="1"/>
          </p:cNvPicPr>
          <p:nvPr/>
        </p:nvPicPr>
        <p:blipFill>
          <a:blip r:embed="rId17">
            <a:alphaModFix amt="80000"/>
          </a:blip>
          <a:srcRect l="-355" r="-355"/>
          <a:stretch/>
        </p:blipFill>
        <p:spPr>
          <a:xfrm>
            <a:off x="9711842" y="4009644"/>
            <a:ext cx="57607" cy="514807"/>
          </a:xfrm>
          <a:prstGeom prst="rect">
            <a:avLst/>
          </a:prstGeom>
        </p:spPr>
      </p:pic>
      <p:sp>
        <p:nvSpPr>
          <p:cNvPr id="38" name="Shape 21"/>
          <p:cNvSpPr/>
          <p:nvPr/>
        </p:nvSpPr>
        <p:spPr>
          <a:xfrm>
            <a:off x="9936785" y="4267505"/>
            <a:ext cx="57607" cy="256946"/>
          </a:xfrm>
          <a:prstGeom prst="roundRect">
            <a:avLst>
              <a:gd name="adj" fmla="val 1587307"/>
            </a:avLst>
          </a:prstGeom>
          <a:solidFill>
            <a:srgbClr val="2B5876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22"/>
          <p:cNvSpPr/>
          <p:nvPr/>
        </p:nvSpPr>
        <p:spPr>
          <a:xfrm>
            <a:off x="10160813" y="4381805"/>
            <a:ext cx="57607" cy="142646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15" descr="preencoded.png"/>
          <p:cNvPicPr>
            <a:picLocks noChangeAspect="1"/>
          </p:cNvPicPr>
          <p:nvPr/>
        </p:nvPicPr>
        <p:blipFill>
          <a:blip r:embed="rId18">
            <a:alphaModFix amt="80000"/>
          </a:blip>
          <a:srcRect l="-400" r="-400"/>
          <a:stretch/>
        </p:blipFill>
        <p:spPr>
          <a:xfrm>
            <a:off x="10385755" y="4067251"/>
            <a:ext cx="57607" cy="457200"/>
          </a:xfrm>
          <a:prstGeom prst="rect">
            <a:avLst/>
          </a:prstGeom>
        </p:spPr>
      </p:pic>
      <p:sp>
        <p:nvSpPr>
          <p:cNvPr id="41" name="Shape 23"/>
          <p:cNvSpPr/>
          <p:nvPr/>
        </p:nvSpPr>
        <p:spPr>
          <a:xfrm>
            <a:off x="10610698" y="4324198"/>
            <a:ext cx="57607" cy="200254"/>
          </a:xfrm>
          <a:prstGeom prst="roundRect">
            <a:avLst>
              <a:gd name="adj" fmla="val 1587307"/>
            </a:avLst>
          </a:prstGeom>
          <a:solidFill>
            <a:srgbClr val="E2E8F0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4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1429207" y="3810305"/>
            <a:ext cx="3333902" cy="3333902"/>
          </a:xfrm>
          <a:prstGeom prst="ellipse">
            <a:avLst/>
          </a:prstGeom>
          <a:solidFill>
            <a:srgbClr val="C94955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333195" y="2000707"/>
            <a:ext cx="45720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t="-1" b="-1"/>
          <a:stretch/>
        </p:blipFill>
        <p:spPr>
          <a:xfrm>
            <a:off x="1333195" y="3333902"/>
            <a:ext cx="4591202" cy="2876702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286500" y="2000707"/>
            <a:ext cx="45720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4000"/>
              </a:srgbClr>
            </a:outerShdw>
          </a:effectLst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rcRect t="-1" b="-1"/>
          <a:stretch/>
        </p:blipFill>
        <p:spPr>
          <a:xfrm>
            <a:off x="6286500" y="3333902"/>
            <a:ext cx="4591202" cy="287670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8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rcRect t="-201" b="-201"/>
          <a:stretch/>
        </p:blipFill>
        <p:spPr>
          <a:xfrm>
            <a:off x="1333195" y="2000707"/>
            <a:ext cx="75895" cy="1143000"/>
          </a:xfrm>
          <a:prstGeom prst="rect">
            <a:avLst/>
          </a:prstGeom>
        </p:spPr>
      </p:pic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7"/>
          <a:srcRect t="-201" b="-201"/>
          <a:stretch/>
        </p:blipFill>
        <p:spPr>
          <a:xfrm>
            <a:off x="6286500" y="2000707"/>
            <a:ext cx="75895" cy="1143000"/>
          </a:xfrm>
          <a:prstGeom prst="rect">
            <a:avLst/>
          </a:prstGeom>
        </p:spPr>
      </p:pic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429207" y="3429000"/>
            <a:ext cx="4381805" cy="2667305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381598" y="3429000"/>
            <a:ext cx="4381805" cy="2667305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Image Generation</a:t>
            </a:r>
            <a:endParaRPr lang="en-US" sz="3600" dirty="0"/>
          </a:p>
        </p:txBody>
      </p:sp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10"/>
          <a:srcRect t="-45" b="-45"/>
          <a:stretch/>
        </p:blipFill>
        <p:spPr>
          <a:xfrm>
            <a:off x="1585570" y="2428646"/>
            <a:ext cx="256946" cy="228600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2000707" y="2143354"/>
            <a:ext cx="37152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Prompt 1:</a:t>
            </a:r>
            <a:endParaRPr lang="en-US" sz="1300" dirty="0"/>
          </a:p>
        </p:txBody>
      </p:sp>
      <p:sp>
        <p:nvSpPr>
          <p:cNvPr id="22" name="Text 11"/>
          <p:cNvSpPr txBox="1"/>
          <p:nvPr/>
        </p:nvSpPr>
        <p:spPr>
          <a:xfrm>
            <a:off x="2000707" y="2409444"/>
            <a:ext cx="37152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"Minimal, modern flat illustrations of AI chat interactions, blue/red accents, clean background"</a:t>
            </a:r>
            <a:endParaRPr lang="en-US" sz="11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53505" y="2428646"/>
            <a:ext cx="228600" cy="228600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6953098" y="2143354"/>
            <a:ext cx="37152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Prompt 2:</a:t>
            </a:r>
            <a:endParaRPr lang="en-US" sz="1300" dirty="0"/>
          </a:p>
        </p:txBody>
      </p:sp>
      <p:sp>
        <p:nvSpPr>
          <p:cNvPr id="25" name="Text 13"/>
          <p:cNvSpPr txBox="1"/>
          <p:nvPr/>
        </p:nvSpPr>
        <p:spPr>
          <a:xfrm>
            <a:off x="6953098" y="2409444"/>
            <a:ext cx="3715207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"Urban b-roll shots and lifestyle cycling at sunrise, cinematic, soft light"</a:t>
            </a:r>
            <a:endParaRPr lang="en-US" sz="1100" dirty="0"/>
          </a:p>
        </p:txBody>
      </p:sp>
      <p:sp>
        <p:nvSpPr>
          <p:cNvPr id="26" name="Text 14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5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-476402"/>
            <a:ext cx="3333902" cy="3333902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952805" y="4286707"/>
            <a:ext cx="2857500" cy="2857500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6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476695" y="2095805"/>
            <a:ext cx="4762195" cy="4190695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8"/>
          <a:srcRect l="-198" r="-198"/>
          <a:stretch/>
        </p:blipFill>
        <p:spPr>
          <a:xfrm>
            <a:off x="6476695" y="2095805"/>
            <a:ext cx="4762195" cy="7589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Video Creation (Canva)</a:t>
            </a:r>
            <a:endParaRPr lang="en-US" sz="3600" dirty="0"/>
          </a:p>
        </p:txBody>
      </p:sp>
      <p:sp>
        <p:nvSpPr>
          <p:cNvPr id="14" name="Text 8"/>
          <p:cNvSpPr txBox="1"/>
          <p:nvPr/>
        </p:nvSpPr>
        <p:spPr>
          <a:xfrm>
            <a:off x="1714500" y="2381098"/>
            <a:ext cx="4191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Import Media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1714500" y="2734056"/>
            <a:ext cx="41916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Import the finalized MP3 voiceover and all generated AI images into the timeline.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1714500" y="3724351"/>
            <a:ext cx="4191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Timeline Sync</a:t>
            </a:r>
            <a:endParaRPr lang="en-US" sz="1800" dirty="0"/>
          </a:p>
        </p:txBody>
      </p:sp>
      <p:sp>
        <p:nvSpPr>
          <p:cNvPr id="17" name="Text 11"/>
          <p:cNvSpPr txBox="1"/>
          <p:nvPr/>
        </p:nvSpPr>
        <p:spPr>
          <a:xfrm>
            <a:off x="1714500" y="4076395"/>
            <a:ext cx="41916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Align visual scenes strictly to the script beats, and apply subtle smooth transitions between cuts.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714500" y="5067605"/>
            <a:ext cx="4191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Brand &amp; Export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714500" y="5419649"/>
            <a:ext cx="419161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Apply MUBS color accents to titles and overlays, then export the final presentation as a 1080p MP4.</a:t>
            </a:r>
            <a:endParaRPr lang="en-US" sz="13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209751" y="2421331"/>
            <a:ext cx="247802" cy="247802"/>
          </a:xfrm>
          <a:prstGeom prst="rect">
            <a:avLst/>
          </a:prstGeom>
        </p:spPr>
      </p:pic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209751" y="3764585"/>
            <a:ext cx="247802" cy="247802"/>
          </a:xfrm>
          <a:prstGeom prst="rect">
            <a:avLst/>
          </a:prstGeom>
        </p:spPr>
      </p:pic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1209751" y="5107838"/>
            <a:ext cx="247802" cy="24780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844638" y="5143500"/>
            <a:ext cx="32049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Project Output Preview</a:t>
            </a:r>
            <a:endParaRPr lang="en-US" sz="1500" dirty="0"/>
          </a:p>
        </p:txBody>
      </p:sp>
      <p:sp>
        <p:nvSpPr>
          <p:cNvPr id="24" name="Text 15"/>
          <p:cNvSpPr txBox="1"/>
          <p:nvPr/>
        </p:nvSpPr>
        <p:spPr>
          <a:xfrm>
            <a:off x="6667805" y="5447995"/>
            <a:ext cx="438180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Generated video complete with narration and visuals</a:t>
            </a:r>
            <a:endParaRPr lang="en-US" sz="11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523683" y="5158130"/>
            <a:ext cx="190195" cy="190195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  <p:pic>
        <p:nvPicPr>
          <p:cNvPr id="27" name="create video">
            <a:hlinkClick r:id="" action="ppaction://media"/>
            <a:extLst>
              <a:ext uri="{FF2B5EF4-FFF2-40B4-BE49-F238E27FC236}">
                <a16:creationId xmlns:a16="http://schemas.microsoft.com/office/drawing/2014/main" id="{26337E29-9129-5B1D-FD60-895208235E5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5957146" y="1939137"/>
            <a:ext cx="5502114" cy="309493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583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5305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1333195" y="2286000"/>
            <a:ext cx="2857500" cy="3810305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4667098" y="2286000"/>
            <a:ext cx="2857500" cy="3810305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rcRect t="-4" b="-4"/>
          <a:stretch/>
        </p:blipFill>
        <p:spPr>
          <a:xfrm>
            <a:off x="8001000" y="2286000"/>
            <a:ext cx="2857500" cy="3810305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5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1333195" y="2286000"/>
            <a:ext cx="2857500" cy="75895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2381098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rcRect l="-201" r="-201"/>
          <a:stretch/>
        </p:blipFill>
        <p:spPr>
          <a:xfrm>
            <a:off x="4667098" y="2286000"/>
            <a:ext cx="2857500" cy="75895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5715000" y="2667305"/>
            <a:ext cx="761695" cy="761695"/>
          </a:xfrm>
          <a:prstGeom prst="ellipse">
            <a:avLst/>
          </a:prstGeom>
          <a:solidFill>
            <a:srgbClr val="2B5876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6"/>
          <a:srcRect l="-201" r="-201"/>
          <a:stretch/>
        </p:blipFill>
        <p:spPr>
          <a:xfrm>
            <a:off x="8001000" y="2286000"/>
            <a:ext cx="2857500" cy="75895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9048902" y="2667305"/>
            <a:ext cx="761695" cy="761695"/>
          </a:xfrm>
          <a:prstGeom prst="ellipse">
            <a:avLst/>
          </a:prstGeom>
          <a:solidFill>
            <a:srgbClr val="C94955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Final Output</a:t>
            </a:r>
            <a:endParaRPr lang="en-US" sz="3600" dirty="0"/>
          </a:p>
        </p:txBody>
      </p:sp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8"/>
          <a:srcRect t="-14689" b="-14689"/>
          <a:stretch/>
        </p:blipFill>
        <p:spPr>
          <a:xfrm>
            <a:off x="2600554" y="2824582"/>
            <a:ext cx="323698" cy="418795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152430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AI-Generated Video</a:t>
            </a:r>
            <a:endParaRPr lang="en-US" sz="1600" dirty="0"/>
          </a:p>
        </p:txBody>
      </p:sp>
      <p:sp>
        <p:nvSpPr>
          <p:cNvPr id="22" name="Text 11"/>
          <p:cNvSpPr txBox="1"/>
          <p:nvPr/>
        </p:nvSpPr>
        <p:spPr>
          <a:xfrm>
            <a:off x="1524305" y="4162349"/>
            <a:ext cx="247711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Complete video featuring natural voice narration paired with dynamic AI-generated visuals.</a:t>
            </a:r>
            <a:endParaRPr lang="en-US" sz="12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9"/>
          <a:srcRect t="-14689" b="-14689"/>
          <a:stretch/>
        </p:blipFill>
        <p:spPr>
          <a:xfrm>
            <a:off x="5934456" y="2824582"/>
            <a:ext cx="323698" cy="418795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4858207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Optimized Length</a:t>
            </a:r>
            <a:endParaRPr lang="en-US" sz="1600" dirty="0"/>
          </a:p>
        </p:txBody>
      </p:sp>
      <p:sp>
        <p:nvSpPr>
          <p:cNvPr id="25" name="Text 13"/>
          <p:cNvSpPr txBox="1"/>
          <p:nvPr/>
        </p:nvSpPr>
        <p:spPr>
          <a:xfrm>
            <a:off x="4858207" y="4162349"/>
            <a:ext cx="247711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Approximately 45–60 seconds long, perfectly timed and highly suitable for class demonstrations.</a:t>
            </a:r>
            <a:endParaRPr lang="en-US" sz="120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10"/>
          <a:srcRect t="-14689" b="-14689"/>
          <a:stretch/>
        </p:blipFill>
        <p:spPr>
          <a:xfrm>
            <a:off x="9267444" y="2824582"/>
            <a:ext cx="323698" cy="418795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8191195" y="3715207"/>
            <a:ext cx="2477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Reusable Workflow</a:t>
            </a:r>
            <a:endParaRPr lang="en-US" sz="1600" dirty="0"/>
          </a:p>
        </p:txBody>
      </p:sp>
      <p:sp>
        <p:nvSpPr>
          <p:cNvPr id="28" name="Text 15"/>
          <p:cNvSpPr txBox="1"/>
          <p:nvPr/>
        </p:nvSpPr>
        <p:spPr>
          <a:xfrm>
            <a:off x="8191195" y="4162349"/>
            <a:ext cx="247711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Consistent MUBS branding applied throughout, with a repeatable process for adapting new topics.</a:t>
            </a:r>
            <a:endParaRPr lang="en-US" sz="1200" dirty="0"/>
          </a:p>
        </p:txBody>
      </p:sp>
      <p:sp>
        <p:nvSpPr>
          <p:cNvPr id="29" name="Text 16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001707" y="-95280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-1429207" y="4286707"/>
            <a:ext cx="3333902" cy="3333902"/>
          </a:xfrm>
          <a:prstGeom prst="ellipse">
            <a:avLst/>
          </a:prstGeom>
          <a:solidFill>
            <a:srgbClr val="C94955">
              <a:alpha val="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0" y="6476695"/>
            <a:ext cx="12191695" cy="3904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6"/>
          <p:cNvSpPr/>
          <p:nvPr/>
        </p:nvSpPr>
        <p:spPr>
          <a:xfrm>
            <a:off x="0" y="6476695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2" r="-2"/>
          <a:stretch/>
        </p:blipFill>
        <p:spPr>
          <a:xfrm>
            <a:off x="1333195" y="2095805"/>
            <a:ext cx="4572000" cy="1762049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rcRect l="-2" r="-2"/>
          <a:stretch/>
        </p:blipFill>
        <p:spPr>
          <a:xfrm>
            <a:off x="6286500" y="2095805"/>
            <a:ext cx="4572000" cy="1762049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2" r="-2"/>
          <a:stretch/>
        </p:blipFill>
        <p:spPr>
          <a:xfrm>
            <a:off x="1333195" y="4143146"/>
            <a:ext cx="4572000" cy="1762049"/>
          </a:xfrm>
          <a:prstGeom prst="rect">
            <a:avLst/>
          </a:prstGeom>
        </p:spPr>
      </p:pic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5"/>
          <a:srcRect l="-2" r="-2"/>
          <a:stretch/>
        </p:blipFill>
        <p:spPr>
          <a:xfrm>
            <a:off x="6286500" y="4143146"/>
            <a:ext cx="4572000" cy="1762049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rcRect t="-199" b="-199"/>
          <a:stretch/>
        </p:blipFill>
        <p:spPr>
          <a:xfrm>
            <a:off x="1333195" y="2095805"/>
            <a:ext cx="75895" cy="1762049"/>
          </a:xfrm>
          <a:prstGeom prst="rect">
            <a:avLst/>
          </a:prstGeom>
        </p:spPr>
      </p:pic>
      <p:sp>
        <p:nvSpPr>
          <p:cNvPr id="16" name="Shape 7"/>
          <p:cNvSpPr/>
          <p:nvPr/>
        </p:nvSpPr>
        <p:spPr>
          <a:xfrm>
            <a:off x="1619402" y="2333549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7"/>
          <a:srcRect t="-199" b="-199"/>
          <a:stretch/>
        </p:blipFill>
        <p:spPr>
          <a:xfrm>
            <a:off x="6286500" y="2095805"/>
            <a:ext cx="75895" cy="1762049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6572707" y="2333549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rcRect t="-199" b="-199"/>
          <a:stretch/>
        </p:blipFill>
        <p:spPr>
          <a:xfrm>
            <a:off x="1333195" y="4143146"/>
            <a:ext cx="75895" cy="1762049"/>
          </a:xfrm>
          <a:prstGeom prst="rect">
            <a:avLst/>
          </a:prstGeom>
        </p:spPr>
      </p:pic>
      <p:sp>
        <p:nvSpPr>
          <p:cNvPr id="20" name="Shape 9"/>
          <p:cNvSpPr/>
          <p:nvPr/>
        </p:nvSpPr>
        <p:spPr>
          <a:xfrm>
            <a:off x="1619402" y="4381805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C9495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6"/>
          <a:srcRect t="-199" b="-199"/>
          <a:stretch/>
        </p:blipFill>
        <p:spPr>
          <a:xfrm>
            <a:off x="6286500" y="4143146"/>
            <a:ext cx="75895" cy="1762049"/>
          </a:xfrm>
          <a:prstGeom prst="rect">
            <a:avLst/>
          </a:prstGeom>
        </p:spPr>
      </p:pic>
      <p:sp>
        <p:nvSpPr>
          <p:cNvPr id="22" name="Shape 10"/>
          <p:cNvSpPr/>
          <p:nvPr/>
        </p:nvSpPr>
        <p:spPr>
          <a:xfrm>
            <a:off x="6572707" y="4381805"/>
            <a:ext cx="476402" cy="476402"/>
          </a:xfrm>
          <a:prstGeom prst="roundRect">
            <a:avLst>
              <a:gd name="adj" fmla="val 61420"/>
            </a:avLst>
          </a:prstGeom>
          <a:solidFill>
            <a:srgbClr val="2B587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Ethical and Social Impact</a:t>
            </a:r>
            <a:endParaRPr lang="en-US" sz="36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8"/>
          <a:srcRect t="-13131" b="-13131"/>
          <a:stretch/>
        </p:blipFill>
        <p:spPr>
          <a:xfrm>
            <a:off x="1766621" y="2457907"/>
            <a:ext cx="181051" cy="228600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2286000" y="2428646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Misinformation Risk</a:t>
            </a:r>
            <a:endParaRPr lang="en-US" sz="1600" dirty="0"/>
          </a:p>
        </p:txBody>
      </p:sp>
      <p:sp>
        <p:nvSpPr>
          <p:cNvPr id="26" name="Text 13"/>
          <p:cNvSpPr txBox="1"/>
          <p:nvPr/>
        </p:nvSpPr>
        <p:spPr>
          <a:xfrm>
            <a:off x="1619402" y="3000146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tools can generate highly realistic but fabricated visuals and voices, increasing the risk of spreading false information.</a:t>
            </a:r>
            <a:endParaRPr lang="en-US" sz="1200" dirty="0"/>
          </a:p>
        </p:txBody>
      </p:sp>
      <p:pic>
        <p:nvPicPr>
          <p:cNvPr id="27" name="Image 11" descr="preencoded.png"/>
          <p:cNvPicPr>
            <a:picLocks noChangeAspect="1"/>
          </p:cNvPicPr>
          <p:nvPr/>
        </p:nvPicPr>
        <p:blipFill>
          <a:blip r:embed="rId9"/>
          <a:srcRect t="-5240" b="-5240"/>
          <a:stretch/>
        </p:blipFill>
        <p:spPr>
          <a:xfrm>
            <a:off x="6719926" y="2457907"/>
            <a:ext cx="181051" cy="228600"/>
          </a:xfrm>
          <a:prstGeom prst="rect">
            <a:avLst/>
          </a:prstGeom>
        </p:spPr>
      </p:pic>
      <p:sp>
        <p:nvSpPr>
          <p:cNvPr id="28" name="Text 14"/>
          <p:cNvSpPr txBox="1"/>
          <p:nvPr/>
        </p:nvSpPr>
        <p:spPr>
          <a:xfrm>
            <a:off x="7239305" y="2428646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Misuse &amp; Deepfakes</a:t>
            </a:r>
            <a:endParaRPr lang="en-US" sz="1600" dirty="0"/>
          </a:p>
        </p:txBody>
      </p:sp>
      <p:sp>
        <p:nvSpPr>
          <p:cNvPr id="29" name="Text 15"/>
          <p:cNvSpPr txBox="1"/>
          <p:nvPr/>
        </p:nvSpPr>
        <p:spPr>
          <a:xfrm>
            <a:off x="6572707" y="3000146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There is significant potential for impersonation, malicious deepfakes, and creating content that violates personal privacy.</a:t>
            </a:r>
            <a:endParaRPr lang="en-US" sz="1200" dirty="0"/>
          </a:p>
        </p:txBody>
      </p:sp>
      <p:pic>
        <p:nvPicPr>
          <p:cNvPr id="30" name="Image 12" descr="preencoded.png"/>
          <p:cNvPicPr>
            <a:picLocks noChangeAspect="1"/>
          </p:cNvPicPr>
          <p:nvPr/>
        </p:nvPicPr>
        <p:blipFill>
          <a:blip r:embed="rId10"/>
          <a:srcRect t="-13131" b="-13131"/>
          <a:stretch/>
        </p:blipFill>
        <p:spPr>
          <a:xfrm>
            <a:off x="1766621" y="4505249"/>
            <a:ext cx="181051" cy="228600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2286000" y="4476902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Copyright Concerns</a:t>
            </a:r>
            <a:endParaRPr lang="en-US" sz="1600" dirty="0"/>
          </a:p>
        </p:txBody>
      </p:sp>
      <p:sp>
        <p:nvSpPr>
          <p:cNvPr id="32" name="Text 17"/>
          <p:cNvSpPr txBox="1"/>
          <p:nvPr/>
        </p:nvSpPr>
        <p:spPr>
          <a:xfrm>
            <a:off x="1619402" y="5048402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Generative models create ongoing challenges regarding intellectual property, image usage rights, and voice actor licensing.</a:t>
            </a:r>
            <a:endParaRPr lang="en-US" sz="1200" dirty="0"/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11"/>
          <a:srcRect t="-28914" b="-28914"/>
          <a:stretch/>
        </p:blipFill>
        <p:spPr>
          <a:xfrm>
            <a:off x="6719926" y="4505249"/>
            <a:ext cx="181051" cy="228600"/>
          </a:xfrm>
          <a:prstGeom prst="rect">
            <a:avLst/>
          </a:prstGeom>
        </p:spPr>
      </p:pic>
      <p:sp>
        <p:nvSpPr>
          <p:cNvPr id="34" name="Text 18"/>
          <p:cNvSpPr txBox="1"/>
          <p:nvPr/>
        </p:nvSpPr>
        <p:spPr>
          <a:xfrm>
            <a:off x="7239305" y="4476902"/>
            <a:ext cx="34290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Bias in AI Outputs</a:t>
            </a:r>
            <a:endParaRPr lang="en-US" sz="1600" dirty="0"/>
          </a:p>
        </p:txBody>
      </p:sp>
      <p:sp>
        <p:nvSpPr>
          <p:cNvPr id="35" name="Text 19"/>
          <p:cNvSpPr txBox="1"/>
          <p:nvPr/>
        </p:nvSpPr>
        <p:spPr>
          <a:xfrm>
            <a:off x="6572707" y="5048402"/>
            <a:ext cx="4000500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Algorithms can inherit and inadvertently amplify skewed perspectives or harmful biases present in their training data.</a:t>
            </a:r>
            <a:endParaRPr lang="en-US" sz="1200" dirty="0"/>
          </a:p>
        </p:txBody>
      </p:sp>
      <p:sp>
        <p:nvSpPr>
          <p:cNvPr id="36" name="Text 20"/>
          <p:cNvSpPr txBox="1"/>
          <p:nvPr/>
        </p:nvSpPr>
        <p:spPr>
          <a:xfrm>
            <a:off x="381305" y="6572707"/>
            <a:ext cx="114300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114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-952805" y="4762195"/>
            <a:ext cx="3810305" cy="3810305"/>
          </a:xfrm>
          <a:prstGeom prst="ellipse">
            <a:avLst/>
          </a:prstGeom>
          <a:solidFill>
            <a:srgbClr val="2B5876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84" b="-384"/>
          <a:stretch/>
        </p:blipFill>
        <p:spPr>
          <a:xfrm>
            <a:off x="5619902" y="1524305"/>
            <a:ext cx="952805" cy="5760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0" y="6476695"/>
            <a:ext cx="12191695" cy="381305"/>
          </a:xfrm>
          <a:prstGeom prst="rect">
            <a:avLst/>
          </a:prstGeom>
          <a:solidFill>
            <a:srgbClr val="F0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333195" y="761695"/>
            <a:ext cx="9525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-37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095805" y="2238451"/>
            <a:ext cx="8572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Streamlines Content Creation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2095805" y="2667305"/>
            <a:ext cx="85725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simplifies the end‑to‑end workflow, seamlessly connecting initial topic generation directly to a polished visual and audio output.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095805" y="3634740"/>
            <a:ext cx="8572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Saves Time and Effort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095805" y="4063594"/>
            <a:ext cx="85725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Significantly reduces the hours students spend on manual production, allowing them to focus entirely on core concepts and quality.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095805" y="5031029"/>
            <a:ext cx="8572500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Demonstrates Practical Integration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2095805" y="5459882"/>
            <a:ext cx="85725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Showcases the real-world power of chaining multiple specialized AI tools to achieve complex, highly coordinated multimodal objectives.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t="-5240" b="-5240"/>
          <a:stretch/>
        </p:blipFill>
        <p:spPr>
          <a:xfrm>
            <a:off x="1623974" y="2295144"/>
            <a:ext cx="181051" cy="22860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t="-5240" b="-5240"/>
          <a:stretch/>
        </p:blipFill>
        <p:spPr>
          <a:xfrm>
            <a:off x="1623974" y="3691433"/>
            <a:ext cx="181051" cy="228600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t="-28914" b="-28914"/>
          <a:stretch/>
        </p:blipFill>
        <p:spPr>
          <a:xfrm>
            <a:off x="1623974" y="5087722"/>
            <a:ext cx="181051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81305" y="6590995"/>
            <a:ext cx="114300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9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CSC211 | Modern University for Business &amp; Science 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152705"/>
          </a:xfrm>
          <a:prstGeom prst="rect">
            <a:avLst/>
          </a:prstGeom>
          <a:solidFill>
            <a:srgbClr val="2B587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48902" y="-1429207"/>
            <a:ext cx="4762195" cy="4762195"/>
          </a:xfrm>
          <a:prstGeom prst="ellipse">
            <a:avLst/>
          </a:prstGeom>
          <a:solidFill>
            <a:srgbClr val="2B5876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904695" y="3810305"/>
            <a:ext cx="4286707" cy="4286707"/>
          </a:xfrm>
          <a:prstGeom prst="ellipse">
            <a:avLst/>
          </a:prstGeom>
          <a:solidFill>
            <a:srgbClr val="C94955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5000" y="1904695"/>
            <a:ext cx="761695" cy="761695"/>
          </a:xfrm>
          <a:prstGeom prst="ellipse">
            <a:avLst/>
          </a:prstGeom>
          <a:solidFill>
            <a:srgbClr val="C94955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286500"/>
            <a:ext cx="12191695" cy="5806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6286500"/>
            <a:ext cx="12191695" cy="914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>
                <a:alpha val="0"/>
              </a:srgbClr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384" b="-384"/>
          <a:stretch/>
        </p:blipFill>
        <p:spPr>
          <a:xfrm>
            <a:off x="5619902" y="3952951"/>
            <a:ext cx="952805" cy="57607"/>
          </a:xfrm>
          <a:prstGeom prst="rect">
            <a:avLst/>
          </a:prstGeom>
        </p:spPr>
      </p:pic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/>
          <a:stretch/>
        </p:blipFill>
        <p:spPr>
          <a:xfrm>
            <a:off x="10858500" y="6334049"/>
            <a:ext cx="952805" cy="476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33195" y="2000707"/>
            <a:ext cx="9525305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kern="0" spc="-150" dirty="0">
                <a:solidFill>
                  <a:srgbClr val="2B587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14" name="Text 10"/>
          <p:cNvSpPr txBox="1"/>
          <p:nvPr/>
        </p:nvSpPr>
        <p:spPr>
          <a:xfrm>
            <a:off x="1333195" y="3238805"/>
            <a:ext cx="95253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kern="0" spc="75" dirty="0">
                <a:solidFill>
                  <a:srgbClr val="C949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 Questions?</a:t>
            </a:r>
            <a:endParaRPr lang="en-US" sz="2700" dirty="0"/>
          </a:p>
        </p:txBody>
      </p:sp>
      <p:sp>
        <p:nvSpPr>
          <p:cNvPr id="15" name="Text 11"/>
          <p:cNvSpPr txBox="1"/>
          <p:nvPr/>
        </p:nvSpPr>
        <p:spPr>
          <a:xfrm>
            <a:off x="2286000" y="4381805"/>
            <a:ext cx="762061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Rawad Youssef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7777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Course: CSC211 – Introduction to Artificial Intelligence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t="-13131" b="-13131"/>
          <a:stretch/>
        </p:blipFill>
        <p:spPr>
          <a:xfrm>
            <a:off x="5339182" y="5238598"/>
            <a:ext cx="181051" cy="22860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t="-5240" b="-5240"/>
          <a:stretch/>
        </p:blipFill>
        <p:spPr>
          <a:xfrm>
            <a:off x="6100877" y="5238598"/>
            <a:ext cx="181051" cy="228600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rcRect t="-11158" b="-11158"/>
          <a:stretch/>
        </p:blipFill>
        <p:spPr>
          <a:xfrm>
            <a:off x="6862572" y="5238598"/>
            <a:ext cx="181051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381305" y="6476695"/>
            <a:ext cx="76206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75" dirty="0">
                <a:solidFill>
                  <a:srgbClr val="2B587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Content Creator</a:t>
            </a:r>
            <a:r>
              <a:rPr lang="en-US" sz="1000" b="1" kern="0" spc="75" dirty="0">
                <a:solidFill>
                  <a:srgbClr val="66666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| Modern University for Business &amp; Science 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1093</Words>
  <Application>Microsoft Office PowerPoint</Application>
  <PresentationFormat>Widescreen</PresentationFormat>
  <Paragraphs>141</Paragraphs>
  <Slides>14</Slides>
  <Notes>14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Courier New</vt:lpstr>
      <vt:lpstr>Montserrat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Rawad Youssef</cp:lastModifiedBy>
  <cp:revision>3</cp:revision>
  <dcterms:created xsi:type="dcterms:W3CDTF">2026-05-04T19:57:35Z</dcterms:created>
  <dcterms:modified xsi:type="dcterms:W3CDTF">2026-05-16T22:25:31Z</dcterms:modified>
</cp:coreProperties>
</file>